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EE777E-F66A-4C7E-B188-9CD054F52EA6}" v="3" dt="2026-07-09T15:35:52.2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kumar" userId="6fef9671dfc953b6" providerId="LiveId" clId="{897E4C4D-728B-49AF-BEC5-B7BF4D37B7F5}"/>
    <pc:docChg chg="undo custSel delSld modSld">
      <pc:chgData name="sai kumar" userId="6fef9671dfc953b6" providerId="LiveId" clId="{897E4C4D-728B-49AF-BEC5-B7BF4D37B7F5}" dt="2026-07-09T16:11:27.775" v="165" actId="2696"/>
      <pc:docMkLst>
        <pc:docMk/>
      </pc:docMkLst>
      <pc:sldChg chg="delSp modSp mod">
        <pc:chgData name="sai kumar" userId="6fef9671dfc953b6" providerId="LiveId" clId="{897E4C4D-728B-49AF-BEC5-B7BF4D37B7F5}" dt="2026-07-09T15:34:10.821" v="36" actId="478"/>
        <pc:sldMkLst>
          <pc:docMk/>
          <pc:sldMk cId="0" sldId="256"/>
        </pc:sldMkLst>
        <pc:spChg chg="mod">
          <ac:chgData name="sai kumar" userId="6fef9671dfc953b6" providerId="LiveId" clId="{897E4C4D-728B-49AF-BEC5-B7BF4D37B7F5}" dt="2026-07-09T15:33:47.755" v="34" actId="20577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sai kumar" userId="6fef9671dfc953b6" providerId="LiveId" clId="{897E4C4D-728B-49AF-BEC5-B7BF4D37B7F5}" dt="2026-07-09T15:34:10.821" v="36" actId="478"/>
          <ac:spMkLst>
            <pc:docMk/>
            <pc:sldMk cId="0" sldId="256"/>
            <ac:spMk id="14" creationId="{00000000-0000-0000-0000-000000000000}"/>
          </ac:spMkLst>
        </pc:spChg>
      </pc:sldChg>
      <pc:sldChg chg="modSp mod">
        <pc:chgData name="sai kumar" userId="6fef9671dfc953b6" providerId="LiveId" clId="{897E4C4D-728B-49AF-BEC5-B7BF4D37B7F5}" dt="2026-07-09T15:37:16.153" v="88" actId="20577"/>
        <pc:sldMkLst>
          <pc:docMk/>
          <pc:sldMk cId="0" sldId="257"/>
        </pc:sldMkLst>
        <pc:spChg chg="mod">
          <ac:chgData name="sai kumar" userId="6fef9671dfc953b6" providerId="LiveId" clId="{897E4C4D-728B-49AF-BEC5-B7BF4D37B7F5}" dt="2026-07-09T15:37:16.153" v="88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sai kumar" userId="6fef9671dfc953b6" providerId="LiveId" clId="{897E4C4D-728B-49AF-BEC5-B7BF4D37B7F5}" dt="2026-07-09T15:40:08.285" v="93" actId="20577"/>
        <pc:sldMkLst>
          <pc:docMk/>
          <pc:sldMk cId="0" sldId="259"/>
        </pc:sldMkLst>
        <pc:spChg chg="mod">
          <ac:chgData name="sai kumar" userId="6fef9671dfc953b6" providerId="LiveId" clId="{897E4C4D-728B-49AF-BEC5-B7BF4D37B7F5}" dt="2026-07-09T15:40:08.285" v="93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sai kumar" userId="6fef9671dfc953b6" providerId="LiveId" clId="{897E4C4D-728B-49AF-BEC5-B7BF4D37B7F5}" dt="2026-07-09T15:39:49.078" v="90" actId="205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ai kumar" userId="6fef9671dfc953b6" providerId="LiveId" clId="{897E4C4D-728B-49AF-BEC5-B7BF4D37B7F5}" dt="2026-07-09T15:39:53.573" v="91" actId="20577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sai kumar" userId="6fef9671dfc953b6" providerId="LiveId" clId="{897E4C4D-728B-49AF-BEC5-B7BF4D37B7F5}" dt="2026-07-09T15:42:05.594" v="95" actId="20577"/>
        <pc:sldMkLst>
          <pc:docMk/>
          <pc:sldMk cId="0" sldId="261"/>
        </pc:sldMkLst>
        <pc:spChg chg="mod">
          <ac:chgData name="sai kumar" userId="6fef9671dfc953b6" providerId="LiveId" clId="{897E4C4D-728B-49AF-BEC5-B7BF4D37B7F5}" dt="2026-07-09T15:42:05.594" v="95" actId="20577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sai kumar" userId="6fef9671dfc953b6" providerId="LiveId" clId="{897E4C4D-728B-49AF-BEC5-B7BF4D37B7F5}" dt="2026-07-09T15:45:10.833" v="97" actId="20577"/>
        <pc:sldMkLst>
          <pc:docMk/>
          <pc:sldMk cId="0" sldId="263"/>
        </pc:sldMkLst>
        <pc:spChg chg="mod">
          <ac:chgData name="sai kumar" userId="6fef9671dfc953b6" providerId="LiveId" clId="{897E4C4D-728B-49AF-BEC5-B7BF4D37B7F5}" dt="2026-07-09T15:45:10.833" v="97" actId="20577"/>
          <ac:spMkLst>
            <pc:docMk/>
            <pc:sldMk cId="0" sldId="263"/>
            <ac:spMk id="18" creationId="{00000000-0000-0000-0000-000000000000}"/>
          </ac:spMkLst>
        </pc:spChg>
      </pc:sldChg>
      <pc:sldChg chg="modSp mod">
        <pc:chgData name="sai kumar" userId="6fef9671dfc953b6" providerId="LiveId" clId="{897E4C4D-728B-49AF-BEC5-B7BF4D37B7F5}" dt="2026-07-09T15:45:48.774" v="119" actId="20577"/>
        <pc:sldMkLst>
          <pc:docMk/>
          <pc:sldMk cId="0" sldId="264"/>
        </pc:sldMkLst>
        <pc:spChg chg="mod">
          <ac:chgData name="sai kumar" userId="6fef9671dfc953b6" providerId="LiveId" clId="{897E4C4D-728B-49AF-BEC5-B7BF4D37B7F5}" dt="2026-07-09T15:45:48.774" v="119" actId="20577"/>
          <ac:spMkLst>
            <pc:docMk/>
            <pc:sldMk cId="0" sldId="264"/>
            <ac:spMk id="17" creationId="{00000000-0000-0000-0000-000000000000}"/>
          </ac:spMkLst>
        </pc:spChg>
      </pc:sldChg>
      <pc:sldChg chg="modSp mod">
        <pc:chgData name="sai kumar" userId="6fef9671dfc953b6" providerId="LiveId" clId="{897E4C4D-728B-49AF-BEC5-B7BF4D37B7F5}" dt="2026-07-09T15:51:33.039" v="122" actId="1036"/>
        <pc:sldMkLst>
          <pc:docMk/>
          <pc:sldMk cId="0" sldId="268"/>
        </pc:sldMkLst>
        <pc:spChg chg="mod">
          <ac:chgData name="sai kumar" userId="6fef9671dfc953b6" providerId="LiveId" clId="{897E4C4D-728B-49AF-BEC5-B7BF4D37B7F5}" dt="2026-07-09T15:51:33.039" v="122" actId="1036"/>
          <ac:spMkLst>
            <pc:docMk/>
            <pc:sldMk cId="0" sldId="268"/>
            <ac:spMk id="6" creationId="{00000000-0000-0000-0000-000000000000}"/>
          </ac:spMkLst>
        </pc:spChg>
        <pc:spChg chg="mod">
          <ac:chgData name="sai kumar" userId="6fef9671dfc953b6" providerId="LiveId" clId="{897E4C4D-728B-49AF-BEC5-B7BF4D37B7F5}" dt="2026-07-09T15:49:33.981" v="121" actId="20577"/>
          <ac:spMkLst>
            <pc:docMk/>
            <pc:sldMk cId="0" sldId="268"/>
            <ac:spMk id="18" creationId="{00000000-0000-0000-0000-000000000000}"/>
          </ac:spMkLst>
        </pc:spChg>
      </pc:sldChg>
      <pc:sldChg chg="modSp mod">
        <pc:chgData name="sai kumar" userId="6fef9671dfc953b6" providerId="LiveId" clId="{897E4C4D-728B-49AF-BEC5-B7BF4D37B7F5}" dt="2026-07-09T15:52:11.292" v="124" actId="20577"/>
        <pc:sldMkLst>
          <pc:docMk/>
          <pc:sldMk cId="0" sldId="269"/>
        </pc:sldMkLst>
        <pc:spChg chg="mod">
          <ac:chgData name="sai kumar" userId="6fef9671dfc953b6" providerId="LiveId" clId="{897E4C4D-728B-49AF-BEC5-B7BF4D37B7F5}" dt="2026-07-09T15:52:11.292" v="124" actId="20577"/>
          <ac:spMkLst>
            <pc:docMk/>
            <pc:sldMk cId="0" sldId="269"/>
            <ac:spMk id="27" creationId="{00000000-0000-0000-0000-000000000000}"/>
          </ac:spMkLst>
        </pc:spChg>
      </pc:sldChg>
      <pc:sldChg chg="modSp mod">
        <pc:chgData name="sai kumar" userId="6fef9671dfc953b6" providerId="LiveId" clId="{897E4C4D-728B-49AF-BEC5-B7BF4D37B7F5}" dt="2026-07-09T15:54:13.076" v="132" actId="20577"/>
        <pc:sldMkLst>
          <pc:docMk/>
          <pc:sldMk cId="0" sldId="270"/>
        </pc:sldMkLst>
        <pc:spChg chg="mod">
          <ac:chgData name="sai kumar" userId="6fef9671dfc953b6" providerId="LiveId" clId="{897E4C4D-728B-49AF-BEC5-B7BF4D37B7F5}" dt="2026-07-09T15:54:13.076" v="132" actId="20577"/>
          <ac:spMkLst>
            <pc:docMk/>
            <pc:sldMk cId="0" sldId="270"/>
            <ac:spMk id="21" creationId="{00000000-0000-0000-0000-000000000000}"/>
          </ac:spMkLst>
        </pc:spChg>
      </pc:sldChg>
      <pc:sldChg chg="modSp mod">
        <pc:chgData name="sai kumar" userId="6fef9671dfc953b6" providerId="LiveId" clId="{897E4C4D-728B-49AF-BEC5-B7BF4D37B7F5}" dt="2026-07-09T15:55:11.123" v="140" actId="20577"/>
        <pc:sldMkLst>
          <pc:docMk/>
          <pc:sldMk cId="0" sldId="271"/>
        </pc:sldMkLst>
        <pc:spChg chg="mod">
          <ac:chgData name="sai kumar" userId="6fef9671dfc953b6" providerId="LiveId" clId="{897E4C4D-728B-49AF-BEC5-B7BF4D37B7F5}" dt="2026-07-09T15:55:11.123" v="140" actId="20577"/>
          <ac:spMkLst>
            <pc:docMk/>
            <pc:sldMk cId="0" sldId="271"/>
            <ac:spMk id="23" creationId="{00000000-0000-0000-0000-000000000000}"/>
          </ac:spMkLst>
        </pc:spChg>
        <pc:spChg chg="mod">
          <ac:chgData name="sai kumar" userId="6fef9671dfc953b6" providerId="LiveId" clId="{897E4C4D-728B-49AF-BEC5-B7BF4D37B7F5}" dt="2026-07-09T15:54:35.241" v="136" actId="20577"/>
          <ac:spMkLst>
            <pc:docMk/>
            <pc:sldMk cId="0" sldId="271"/>
            <ac:spMk id="25" creationId="{00000000-0000-0000-0000-000000000000}"/>
          </ac:spMkLst>
        </pc:spChg>
      </pc:sldChg>
      <pc:sldChg chg="modSp mod">
        <pc:chgData name="sai kumar" userId="6fef9671dfc953b6" providerId="LiveId" clId="{897E4C4D-728B-49AF-BEC5-B7BF4D37B7F5}" dt="2026-07-09T16:01:28.955" v="157" actId="14100"/>
        <pc:sldMkLst>
          <pc:docMk/>
          <pc:sldMk cId="0" sldId="275"/>
        </pc:sldMkLst>
        <pc:spChg chg="mod">
          <ac:chgData name="sai kumar" userId="6fef9671dfc953b6" providerId="LiveId" clId="{897E4C4D-728B-49AF-BEC5-B7BF4D37B7F5}" dt="2026-07-09T16:01:16.728" v="154" actId="14100"/>
          <ac:spMkLst>
            <pc:docMk/>
            <pc:sldMk cId="0" sldId="275"/>
            <ac:spMk id="9" creationId="{00000000-0000-0000-0000-000000000000}"/>
          </ac:spMkLst>
        </pc:spChg>
        <pc:spChg chg="mod">
          <ac:chgData name="sai kumar" userId="6fef9671dfc953b6" providerId="LiveId" clId="{897E4C4D-728B-49AF-BEC5-B7BF4D37B7F5}" dt="2026-07-09T16:01:23.044" v="155" actId="14100"/>
          <ac:spMkLst>
            <pc:docMk/>
            <pc:sldMk cId="0" sldId="275"/>
            <ac:spMk id="14" creationId="{00000000-0000-0000-0000-000000000000}"/>
          </ac:spMkLst>
        </pc:spChg>
        <pc:spChg chg="mod">
          <ac:chgData name="sai kumar" userId="6fef9671dfc953b6" providerId="LiveId" clId="{897E4C4D-728B-49AF-BEC5-B7BF4D37B7F5}" dt="2026-07-09T16:01:28.955" v="157" actId="14100"/>
          <ac:spMkLst>
            <pc:docMk/>
            <pc:sldMk cId="0" sldId="275"/>
            <ac:spMk id="19" creationId="{00000000-0000-0000-0000-000000000000}"/>
          </ac:spMkLst>
        </pc:spChg>
        <pc:spChg chg="mod">
          <ac:chgData name="sai kumar" userId="6fef9671dfc953b6" providerId="LiveId" clId="{897E4C4D-728B-49AF-BEC5-B7BF4D37B7F5}" dt="2026-07-09T16:00:54.755" v="152" actId="20577"/>
          <ac:spMkLst>
            <pc:docMk/>
            <pc:sldMk cId="0" sldId="275"/>
            <ac:spMk id="21" creationId="{00000000-0000-0000-0000-000000000000}"/>
          </ac:spMkLst>
        </pc:spChg>
      </pc:sldChg>
      <pc:sldChg chg="modSp mod">
        <pc:chgData name="sai kumar" userId="6fef9671dfc953b6" providerId="LiveId" clId="{897E4C4D-728B-49AF-BEC5-B7BF4D37B7F5}" dt="2026-07-09T16:02:51.767" v="160" actId="20577"/>
        <pc:sldMkLst>
          <pc:docMk/>
          <pc:sldMk cId="0" sldId="276"/>
        </pc:sldMkLst>
        <pc:spChg chg="mod">
          <ac:chgData name="sai kumar" userId="6fef9671dfc953b6" providerId="LiveId" clId="{897E4C4D-728B-49AF-BEC5-B7BF4D37B7F5}" dt="2026-07-09T16:02:51.767" v="160" actId="20577"/>
          <ac:spMkLst>
            <pc:docMk/>
            <pc:sldMk cId="0" sldId="276"/>
            <ac:spMk id="8" creationId="{00000000-0000-0000-0000-000000000000}"/>
          </ac:spMkLst>
        </pc:spChg>
      </pc:sldChg>
      <pc:sldChg chg="modSp mod">
        <pc:chgData name="sai kumar" userId="6fef9671dfc953b6" providerId="LiveId" clId="{897E4C4D-728B-49AF-BEC5-B7BF4D37B7F5}" dt="2026-07-09T16:04:19.123" v="164" actId="20577"/>
        <pc:sldMkLst>
          <pc:docMk/>
          <pc:sldMk cId="0" sldId="277"/>
        </pc:sldMkLst>
        <pc:spChg chg="mod">
          <ac:chgData name="sai kumar" userId="6fef9671dfc953b6" providerId="LiveId" clId="{897E4C4D-728B-49AF-BEC5-B7BF4D37B7F5}" dt="2026-07-09T16:03:25.210" v="162" actId="20577"/>
          <ac:spMkLst>
            <pc:docMk/>
            <pc:sldMk cId="0" sldId="277"/>
            <ac:spMk id="8" creationId="{00000000-0000-0000-0000-000000000000}"/>
          </ac:spMkLst>
        </pc:spChg>
        <pc:spChg chg="mod">
          <ac:chgData name="sai kumar" userId="6fef9671dfc953b6" providerId="LiveId" clId="{897E4C4D-728B-49AF-BEC5-B7BF4D37B7F5}" dt="2026-07-09T16:04:19.123" v="164" actId="20577"/>
          <ac:spMkLst>
            <pc:docMk/>
            <pc:sldMk cId="0" sldId="277"/>
            <ac:spMk id="16" creationId="{00000000-0000-0000-0000-000000000000}"/>
          </ac:spMkLst>
        </pc:spChg>
      </pc:sldChg>
      <pc:sldChg chg="del">
        <pc:chgData name="sai kumar" userId="6fef9671dfc953b6" providerId="LiveId" clId="{897E4C4D-728B-49AF-BEC5-B7BF4D37B7F5}" dt="2026-07-09T16:11:27.775" v="165" actId="2696"/>
        <pc:sldMkLst>
          <pc:docMk/>
          <pc:sldMk cId="0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59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7440" y="457200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MSIA CULMINATING INTERNSHIP EXPERIENCE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Project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Backend Development Internship — Digital Banking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41248" y="333756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Kumar Jaladi   |   July 2026   |   IA699  |  St. Cloud State University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18120" y="4160520"/>
            <a:ext cx="3794760" cy="2148840"/>
          </a:xfrm>
          <a:prstGeom prst="roundRect">
            <a:avLst>
              <a:gd name="adj" fmla="val 3830"/>
            </a:avLst>
          </a:prstGeom>
          <a:solidFill>
            <a:srgbClr val="141B49"/>
          </a:solidFill>
          <a:ln w="9525">
            <a:solidFill>
              <a:srgbClr val="C9A22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10728" y="4379976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10728" y="4818888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Collen, Lynn 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10728" y="5276088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Jieyu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10728" y="5733288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Jim Q.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This Presentation Cover’s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89280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83080" y="169164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&amp; Its Structure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89280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406640" y="169164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DBP Project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465576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783080" y="3264408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Security &amp;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326440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3465576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406640" y="3264408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Process, Schedule &amp; Deliverables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83717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5038344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783080" y="483717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Lessons, Coursework &amp; Impact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837176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5038344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406640" y="483717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&amp; Takeaways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THE ORGANIZATION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400800" cy="4480560"/>
          </a:xfrm>
          <a:prstGeom prst="roundRect">
            <a:avLst>
              <a:gd name="adj" fmla="val 18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920240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regional retail bank serving a metropolitan area of the U.S., with a branch network, back-office operations, and a technology division.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136392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999232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include checking and savings accounts, consumer and business loans, credit cards, and digital account access.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421538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4078224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from a single community bank into a regional institution through a series of acquisitions and organic growth.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5294376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5157216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to be a trusted community bank that pairs strong in-branch service with banking that is both safe and easy to use online.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78040" y="1691640"/>
            <a:ext cx="4462272" cy="4480560"/>
          </a:xfrm>
          <a:prstGeom prst="roundRect">
            <a:avLst>
              <a:gd name="adj" fmla="val 18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22860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Reliable, safe, and convenient financial services for all customers — regardless of their comfort with technology.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0" y="3886200"/>
            <a:ext cx="35661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0" y="411480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mission drove real requirements: plain-language error messages and accessible design were treated as first-class, not an afterthought.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THE ORGANIZATION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Transformation: The Digital Banking Platform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 - branch, back-office, technology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43400" y="18288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project: the Digital Banking Platform (DBP)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38160" y="182880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366760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visits now required for routine servicing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1672" cy="2286000"/>
          </a:xfrm>
          <a:prstGeom prst="roundRect">
            <a:avLst>
              <a:gd name="adj" fmla="val 36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DBP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4805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Balances, transfers, and interest postings required a branch visit and manual back-office reconciliation slow, inconsistent, and hard to scale as the customer base grew.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4114800"/>
            <a:ext cx="0" cy="18288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DBP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480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view balances, transfer funds, and track loans entirely online  matching the self-service experience customers already expect from digital banking.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— THE ORGANIZATION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Organizational Structure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7360920" cy="4480560"/>
          </a:xfrm>
          <a:prstGeom prst="roundRect">
            <a:avLst>
              <a:gd name="adj" fmla="val 18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youthful-amazing-johnson/mnt/outputs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044225"/>
            <a:ext cx="6675120" cy="37753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2440" y="1691640"/>
            <a:ext cx="3547872" cy="4480560"/>
          </a:xfrm>
          <a:prstGeom prst="roundRect">
            <a:avLst>
              <a:gd name="adj" fmla="val 232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41248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0" y="22860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→ IT Director, Digital Banking → Engineering Manager → Backend Team Lead → this internship.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412480" y="3840480"/>
            <a:ext cx="28803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412480" y="40690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code decisions were resolved in minutes with the Backend Team Lead. Anything touching the shared API contract or budget moved through the Engineering Manager.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THE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A Structural Bottleneck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secure, self-service digital channel existed for routine account servicing.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balance inquiry, transfer, or interest posting consumed branch staff time and carried manual-entry risk a cost that grew with transaction volume.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68112" cy="4572000"/>
          </a:xfrm>
          <a:prstGeom prst="roundRect">
            <a:avLst>
              <a:gd name="adj" fmla="val 18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210312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remember one branch employee describing a personal notebook of interest-calculation shortcuts she’d worked out over years — knowledge nobody else on her team had.”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37960" y="4434840"/>
            <a:ext cx="18288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4663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story made the cost of the old system concrete: undocumented, single-point-of-failure knowledge that a well-designed digital system is meant to eliminate.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THE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the Digital Banking Platform (DBP)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Java / Spring Boot application that lets customers view balances, transfer funds, and review loan information — without visiting a branch.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close, and look up balances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33375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3611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6" name="Text 14"/>
          <p:cNvSpPr/>
          <p:nvPr/>
        </p:nvSpPr>
        <p:spPr>
          <a:xfrm>
            <a:off x="461772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Transfers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integrity under concurrent load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3375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12480" y="3611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21" name="Text 19"/>
          <p:cNvSpPr/>
          <p:nvPr/>
        </p:nvSpPr>
        <p:spPr>
          <a:xfrm>
            <a:off x="841248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&amp; Interest Tracking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interest calculation &amp; audit trail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THE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 on the Team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74136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57016" y="17830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— Java Backend Developer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12" y="17830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Developer (x2)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25128" y="178308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08008" y="17830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91672" cy="2331720"/>
          </a:xfrm>
          <a:prstGeom prst="roundRect">
            <a:avLst>
              <a:gd name="adj" fmla="val 3529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16052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399592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Account Management, Fund Transfer, and Interest Calculation modules end to end.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4782312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46177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implementation approaches and defended them in code review not just following instructions.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540410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523951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stable API contracts with the front-end team so both sides could build in parallel.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ARCHITECTURE, SECURITY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9842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4136" y="1783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57016" y="19842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57016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framework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2512" y="19842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82512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25128" y="17830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08008" y="198424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08008" y="25146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JWT/OAUTH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19856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6210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15137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74136" y="3419856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57016" y="36210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&amp; Mockito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57016" y="415137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/ integration tests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99632" y="3419856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82512" y="36210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82512" y="415137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API verification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025128" y="3419856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208008" y="36210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08008" y="415137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ARCHITECTURE, SECURITY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Application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085705" cy="4480560"/>
          </a:xfrm>
          <a:prstGeom prst="roundRect">
            <a:avLst>
              <a:gd name="adj" fmla="val 2014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youthful-amazing-johnson/mnt/outputs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14500"/>
            <a:ext cx="3628505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65865" y="183794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40185" y="17282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640185" y="209397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UI and Postman for manual verification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365865" y="2889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40185" y="27797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640185" y="314553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AccountController, TransactionController, LoanController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365865" y="394106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640185" y="38313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640185" y="419709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including transactional guarantees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365865" y="499262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40185" y="4882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640185" y="524865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over MySQL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ARCHITECTURE, SECURITY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49440" cy="3657600"/>
          </a:xfrm>
          <a:prstGeom prst="roundRect">
            <a:avLst>
              <a:gd name="adj" fmla="val 225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youthful-amazing-johnson/mnt/outputs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730" y="1965960"/>
            <a:ext cx="553726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4406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 covering the customer, account, transaction, card, and loan entities.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1691640"/>
            <a:ext cx="3913632" cy="4480560"/>
          </a:xfrm>
          <a:prstGeom prst="roundRect">
            <a:avLst>
              <a:gd name="adj" fmla="val 210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4672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INTERDEPENDENT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22860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 touches the same account rows a balance inquiry reads. An interest posting is itself a specialized account update.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46720" y="3794760"/>
            <a:ext cx="301752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046720" y="40233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modules were tracked separately on the backlog but could never be designed in isolation.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ARCHITECTURE, SECURITY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Defense in Depth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DMZ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firewalls + network ACLs filter inbound traffic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transit; role-scoped services process requests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6676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Data Tier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5603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for account and PII data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layer assumes the layer in front of it might eventually fail — an attacker who breaches the DMZ still has to defeat the application tier before ever reaching customer data.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ARCHITECTURE, SECURITY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Role-Based Access Control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9661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 govern every endpoint on DBP: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84378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34670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3200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384962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3703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5720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new endpoint: which roles have a legitimate business reason to call it?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5376672" cy="4480560"/>
          </a:xfrm>
          <a:prstGeom prst="roundRect">
            <a:avLst>
              <a:gd name="adj" fmla="val 18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0" y="205740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189280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a salted, one-way algorithm never stored in plain text or reversible encryption.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329184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312724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actions (e.g., reversing a transaction) require an elevated role and are fully audited.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452628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436168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audited action logs the acting user, timestamp, and affected account to reconstruct disputes.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ARCHITECTURE, SECURITY &amp;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Protection, Logging &amp; Compliance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transit; encryption at rest for account numbers, balances, and PII.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74136" y="17830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02736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0273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57016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57016" y="30175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sensitive action reconstructable by acting user, timestamp, and account.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17830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28232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2823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82512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2512" y="30175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logging across applications and infrastructure flags anomalies.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25128" y="178308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253728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5372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08008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08008" y="30175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program aligned to PCI DSS and standard retention / incident rules.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89204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lesson: sensitivity often lives in combinations of fields, not any single field a masked account number plus a timestamp and session ID can still re-identify a customer.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PROCESS &amp;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/ SDLC Methodology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480560" cy="4480560"/>
          </a:xfrm>
          <a:prstGeom prst="roundRect">
            <a:avLst>
              <a:gd name="adj" fmla="val 18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youthful-amazing-johnson/mnt/outputs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411480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0352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03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0" y="1828800"/>
            <a:ext cx="5696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groom backlog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303520" y="2606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03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0" y="2606040"/>
            <a:ext cx="5696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two-week sprints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3035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03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383280"/>
            <a:ext cx="5696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 stakeholders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303520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3035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0" y="4160520"/>
            <a:ext cx="5696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— process, not blame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303520" y="5029200"/>
            <a:ext cx="6336792" cy="1143000"/>
          </a:xfrm>
          <a:prstGeom prst="roundRect">
            <a:avLst>
              <a:gd name="adj" fmla="val 72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32120" y="5029200"/>
            <a:ext cx="5879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Retrospectives reframed every issue as a process question, not a person question, which made the team far more willing to surface mistakes early.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PROCESS &amp;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Timeline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80844" y="2203704"/>
            <a:ext cx="256032" cy="25603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Sep–Dec 2025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1–7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customer, account, card, and fund-transfer modules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75604" y="2203704"/>
            <a:ext cx="256032" cy="25603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43400" y="26517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Jan–Apr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8–14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9319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reporting, performance &amp; security hardening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70364" y="2203704"/>
            <a:ext cx="256032" cy="25603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38160" y="26517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6676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3200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15–20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39319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UAT, production deployment, hand-off &amp; wrap-up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sprints across 3 phases, from onboarding through production hand-off.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PROCESS &amp;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Deliverables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0802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80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73736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 &amp; authentication APIs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20802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080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173736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 / update / close / balance look-up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4975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497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1546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transfer &amp; withdrawal with transactional integrity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15468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34975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3497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78040" y="31546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interest calculation for loans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49149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9149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54480" y="45720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MySQL schema across all modules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45720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0" y="49149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49149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78040" y="45720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 coverage (JUnit, Mockito)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PROCESS &amp;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the Hard Part: Fund Transfers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movement must be correct even when two transactions hit the same account at nearly the same moment.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657600"/>
            <a:ext cx="47548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 against near-simultaneous debits to the same account; rollback handling for partially failed transfers; later load-tested against simulated concurrent requests.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76672" cy="4480560"/>
          </a:xfrm>
          <a:prstGeom prst="roundRect">
            <a:avLst>
              <a:gd name="adj" fmla="val 183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CALCULATION TRADE-OFF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option: overwrite each balance in place.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option: generate and store an explicit interest-posting record on every run.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3886200"/>
            <a:ext cx="44805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41148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amount of extra processing time bought a complete, reconstructable audit history for every interest calculation the system ever performed.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PROCESS &amp;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Deployment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youthful-amazing-johnson/mnt/outputs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46" y="2194560"/>
            <a:ext cx="9610659" cy="1097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7764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4663440"/>
            <a:ext cx="2240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4800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gate must pass to promote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54680" y="4846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429000" y="397764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1188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611880" y="4663440"/>
            <a:ext cx="2240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11880" y="4800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gate must pass to promote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4846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309360" y="397764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9224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492240" y="4663440"/>
            <a:ext cx="2240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92240" y="4800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gate must pass to promote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15400" y="4846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9189720" y="397764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37260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9372600" y="4663440"/>
            <a:ext cx="2240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372600" y="48006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post-release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PROCESS &amp;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554480" y="1947672"/>
            <a:ext cx="3200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670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&amp; Mockito — verifying individual service and repository methods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9994392" cy="1188720"/>
          </a:xfrm>
          <a:prstGeom prst="roundRect">
            <a:avLst>
              <a:gd name="adj" fmla="val 6923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34015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401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1554480" y="32461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081528"/>
            <a:ext cx="5605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flows spanning customer, account, transfer, card, and loan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8897112" cy="1188720"/>
          </a:xfrm>
          <a:prstGeom prst="roundRect">
            <a:avLst>
              <a:gd name="adj" fmla="val 6923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470001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700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1554480" y="4544568"/>
            <a:ext cx="3200400" cy="845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4379976"/>
            <a:ext cx="4507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checks before handoff — caught contract mismatches early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74243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started treating manual verification as part of the definition of ‘done’ - not an optional nicety - after it repeatedly caught mismatches between code and documented contract.”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LESSONS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Lesson: The API Contract Incident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4434840"/>
          </a:xfrm>
          <a:prstGeom prst="roundRect">
            <a:avLst>
              <a:gd name="adj" fmla="val 185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changed an API field name without telling the front-end team, it broke the transfer confirmation screen for a short period.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76672" cy="4434840"/>
          </a:xfrm>
          <a:prstGeom prst="roundRect">
            <a:avLst>
              <a:gd name="adj" fmla="val 18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API contract is a shared agreement, not something I can modify unilaterally.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3246120"/>
            <a:ext cx="44805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34747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Afterward: version and document endpoint changes before merging, and proactively flag even minor field renames in the team channel before opening a pull request.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LESSONS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Lesson: Reasoning About Concurrency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“looked” correct with little thought given to what happens when two operations compete for the same data.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Point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Lead asked what would happen to a multi-step update if the database connection dropped halfway through.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63840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66760" y="2011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56032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for concurrency issues became automatic reviewing a pull request without asking “what if this runs twice at once” felt incomplete.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LESSONS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to the Organization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2128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safeguards on fund transfers prevented a class of bug (inconsistent balances) that QA specifically tested for.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10128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369417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6941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1600200" y="3310128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stable, documented API surface let the front-end team build in parallel instead of waiting on backend progress.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791456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517550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5175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600200" y="4791456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Fresh-eyes questions surfaced stale validation assumptions the team had stopped questioning.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LESSONS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to My Growth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code as documentation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commit history often beats an out-of-date wiki page.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965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future readers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240487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messages evolved to explain why, not just what.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5844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API contracts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4023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boundary-crossing change now gets a heads-up to the team.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401568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35844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 failure modes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4023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if this runs twice at once” became automatic.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OUTCOMES &amp;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Achieved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96596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965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40487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database design, secure coding, and OO design to real production constraints, not just coursework rubrics.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73368" y="196596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73368" y="1965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73368" y="240487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Communicated daily through stand-ups, planning, and retrospectives — surfacing blockers early, not silently.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9808" y="3584448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5844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4023360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transactional safeguards, RBAC, and secure coding as default design requirements.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401568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73368" y="3584448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73368" y="35844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73368" y="4023360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on the API-contract incident and concurrency growth to build durable habits.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 Platform  |  MSIA Internship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521440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— OUTCOMES &amp;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" y="2029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83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delivery never outweighs correctness on a system that handles real customer funds.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4672" y="3172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926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applies as much to code review habits as to network architecture.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" y="4315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069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contract is a shared agreement — treat every boundary-crossing change as a heads-up, not a surprise.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F3F6FC"/>
          </a:solidFill>
          <a:ln/>
          <a:effectLst>
            <a:outerShdw blurRad="127000" dist="38100" dir="2700000" algn="bl" rotWithShape="0">
              <a:srgbClr val="0B0F2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4672" y="54589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4672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5212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question from a reviewer, QA engineer, or operations employee as useful information, not criticism.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4937760" cy="493776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Kumar Jaladi   |   saikumarj555@gmail.com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2141</Words>
  <Application>Microsoft Office PowerPoint</Application>
  <PresentationFormat>Widescreen</PresentationFormat>
  <Paragraphs>357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Banking Platform Internship</dc:title>
  <dc:subject>PptxGenJS Presentation</dc:subject>
  <dc:creator>Intern</dc:creator>
  <cp:lastModifiedBy>sai kumar</cp:lastModifiedBy>
  <cp:revision>1</cp:revision>
  <dcterms:created xsi:type="dcterms:W3CDTF">2026-07-09T15:31:56Z</dcterms:created>
  <dcterms:modified xsi:type="dcterms:W3CDTF">2026-07-09T16:11:38Z</dcterms:modified>
</cp:coreProperties>
</file>