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afternoon, everyone. Thank you for being here for my culminating internship presentation. My name is Sai Kumar Jaladi, and I'm completing my M.S. in Information Assurance at St. Cloud State University. Today I'll walk you through my internship as a Java Backend Developer on the Digital Banking Platform project at Ven Solutions.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Quickly, some academic context: this internship fulfills IA 699, with submission spanning from last fall through this July. I want to thank my committee — Dr. Lynn Collen, Dr. Jieyu Wang, and Professor Jim Chen — for their guidance and for reviewing this 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how I'll structure the talk. I'll start with the organization and where I fit into it, then cover the security infrastructure I worked within, walk through the actual work and schedule in detail, talk about which courses prepared me, reflect on the overall experience, and close with how I met each of my learning outcomes.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start with the organization I interned 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Ven Solutions is a regional community bank headquartered in a central U.S. metro area, though it serves customers nationwide. It offers the standard mix of checking, savings, consumer and business loans, and full digital banking access. It grew through acquiring smaller community banks and building out its own relationships. One detail I want to highlight: the technology division operates almost like a bank within the bank — its own budget, its own release calendar, and its own internal customers, meaning the branch network and back-office staff who depend on what we build. I worked there as a Java Backend Developer on a six-person Agile team, using Java, Spring Boot, and MySQL, and my contributions spanned requirements analysis, database design, REST APIs, testing, and deployment.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bank's mission is to provide reliable, safe, and convenient financial services to everyone, regardless of how comfortable they are with technology. Its vision is to be a trusted community bank that pairs strong branch service with safe, innovative online banking. What was interesting is that I could actually see that mission play out from inside engineering — sprint planning increasingly leaned on mobile and web usage data rather than branch foot traffic, several senior engineers had transferred internally specifically to work on digital banking, and things like plain-language error messages were treated as first-class requirements, not something bolted on at the end.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captures why the Digital Banking Platform, or DBP, existed. Before DBP, checking a balance or making a transfer required a branch visit, interest was applied through a slow manual process, and the customer experience was inconsistent from branch to branch — a lot of that knowledge lived in individual employees' heads rather than in any system. After DBP, customers get a self-service digital channel, calculations are deterministic instead of manually reconciled, the experience is consistent across web and mobile, and the bank has a foundation that can actually scale as its customer base grows.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how the technology division is structured. It's a fairly conventional hierarchy: CIO at the top, then an IT Director over Digital Banking, then an Engineering Manager, a QA Manager, and a DevOps and Infrastructure Lead, each owning their piece of the DBP program. Within Engineering, there's a Backend Team Lead and a Front-End Team Lead. I sat as the Backend Developer Intern, reporting to the Backend Team Lead. In practice, this meant day-to-day code decisions were resolved in minutes with my team lead, while anything touching the shared API contract or budget moved more deliberately through the Engineering Manager.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Next, I want to cover the information security infrastructure I worked within, since DBP handles real customer funds and that shaped almost every design decision I made.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DBP uses a defense-in-depth network design — separate zones for the public-facing DMZ, the application tier, and a restricted data tier, with web application firewalls and network access control lists filtering traffic between them. Everything in transit is encrypted with TLS, and sensitive data like account numbers and PII is encrypted at rest. I like to explain this the way I came to understand it myself: a locked front door doesn't mean the vault is left open. Each layer assumes the layer in front of it might eventually fail. That mindset carried into how I reviewed my own pull requests — I started asking what would happen if a particular check were bypassed elsewhere, and adding a second layer of validation where it mattered, even when it felt redundant in the moment.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Authentication and authorization run through Spring Security, using role-based access control for three roles: customer, teller, and administrator. For every endpoint, we asked which roles genuinely needed access — nothing was trusted by default. Passwords are stored as salted, one-way hashes; plain text or reversible encryption was never an option. Sensitive administrative actions, like reversing a transaction, require an elevated role, and every one of those actions is logged with the acting user, timestamp, and affected account, so we can fully reconstruct what happened if there's ever a dispute.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the compliance side, logging and monitoring correlates application and infrastructure logs to catch anomalies, and externally facing systems go through regular vulnerability scans. The security program aligns with PCI DSS for cardholder data, among other financial regulations. One lesson that stuck with me: sensitivity often lives in combinations of fields, not any single field — a masked account number plus a timestamp plus a session ID can still be enough to re-identify a customer. We also redesigned our audit logging to capture a strict, unambiguous sequence of events, not just timestamps, after realizing two administrators reversing the same transaction in the same second could otherwise be ambiguous. And importantly, the core banking application is built and operated entirely in-house — there's no vendor to escalate a defect to, which raised the bar for how seriously we treated code quality.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let's get into the actual work — what I did, week by week, and the project itself in detail.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internship ran about eleven months across three phases, totaling twenty two-week sprints. Phase one, in the fall, was about foundations — onboarding, schema design, and the core customer, account, card, and transfer modules. Phase two, in the spring, was about expansion and hardening — loans, notifications, reporting, and performance and security work. Phase three, this summer, was release and wrap-up — UAT, production deployment, monitoring, and knowledge hand-off.</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Phase 1 in more detail. I started with environment setup and a codebase walkthrough, then moved into schema design for customers, accounts, transactions, cards, and loans. From there I built customer registration and authentication, account CRUD and balance look-ups, the card module, and then spent two sprints on the fund-transfer workflow itself — transactional balance updates, concurrency safeguards, and load testing, since that's the part of the system where correctness mattered most.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Phase 2 was about expanding the platform and hardening it. I built notification and low-balance alert endpoints, reporting dashboards, and then ran end-to-end integration tests across every module. I profiled and tuned performance — caching hot account data and tuning database indexes — then did a full RBAC coverage review and supported an internal penetration test. I also adjusted the API for mobile clients and rewrote a batch of technical error messages into plain language.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Phase 3 was release and wrap-up. I helped prepare and execute User Acceptance Testing, supported the production deployment through our Jenkins CI/CD pipeline, and then monitored the system after launch. Toward the end, I refactored some legacy code, picked up a few deferred backlog items, and spent the final sprint on documentation and knowledge hand-off — runbooks, wiki updates, and a final showcase to leadership.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Stepping back — the whole internship was really one continuous project: the Digital Banking Platform, a Java and Spring Boot application that lets customers manage their accounts without visiting a branch. It was structured as twenty Agile sprints, each ending in a stakeholder demo. My team was a Technical Lead, two front-end developers, a QA engineer, and me on the backend, primarily owning account management, fund transfers, and interest calculation. I was given real latitude to propose my own implementation approaches, which meant defending design decisions in code review rather than just following instructions. And our retrospectives were framed around process questions — why did a bug get past review — rather than blame, which made the team much more willing to surface problems early.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did this project matter? Before DBP, account servicing was almost entirely manual — branch visits and back-office reconciliation for balances, transfers, and interest. The root cause was simple: there was no secure, self-service digital channel, so the same arithmetic was being solved by hand differently in every branch, and a lot of that knowledge was undocumented and held by individual employees. The effect was that every inquiry or transfer consumed staff time, manual-entry risk scaled with transaction volume, and the bank was at a real competitive disadvantage against larger, already-digitized competitors.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scope covered the relational schema for customers, accounts, transactions, cards, and loans; the RESTful endpoints built with Spring Boot, Spring Data JPA, and Spring Security; the fund-transfer workflow with full transactional guarantees; and the unit, integration, and manual Postman testing behind all of it. The constraints were real: the API contract with the front-end had to stay stable so both teams could work in parallel, money movement had to be correct even under concurrent load, everything had to meet security and audit expectations, and we were working in two-week sprints throughout. More than once, the fastest way to build something wasn't the most auditable way, and learning to recognize that trade-off early was a big part of the job.</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architecture at a glance: a standard layered Spring Boot design, from the client, through the controller layer, down through the service layer where the business logic lives, into the repository layer built on Spring Data JPA, and finally the MySQL database. On the tooling side, I worked in Java 17 and Spring Boot, with MySQL 8 for a normalized schema, JUnit and Mockito for testing, Postman for manual verification, Maven, Git, and Jenkins for build and CI/CD, IntelliJ as my primary IDE, and Agile Scrum with two-week sprints and daily stand-ups.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how code actually got to production: a Git commit triggers a Maven build with unit tests, and from there it's automatically promoted through Development, then SIT, then UAT, and finally Production — and a build that fails any gate never advances further. By the end, the backend was operationally complete: customer registration and authentication, full account management, fund transfer and withdrawal with transactional integrity, automated interest calculation with a complete replayable audit history, and all of it backed by a normalized schema with real test coverage.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Next, I want to talk about which courses in my program most directly prepared me for this work.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IA 643, Database Application Security and Auditing, taught me how to secure a financial database — least-privilege access, input validation, and parameterized queries against SQL injection — and gave me the vocabulary to explain security trade-offs to non-technical stakeholders. If I could improve it, I'd add a lab built around an ORM like Spring Data JPA, since that's what most production code actually uses. IA 559, Information Systems in Today's World, shaped how I translate a business process into a technical design and taught me to evaluate a system by whether it actually improves the process it supports — that came up directly when I was gathering requirements with branch operations staff. I'd add a case study on modernizing legacy systems specifically.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IA 560, Project Management, gave me SMART goals and Gantt charts, which were genuinely useful for sprint and backlog planning, and a vocabulary for discussing scope, risk, and trade-offs — I used that directly when explaining why a seemingly small feature request had real downstream impact. I'd add a module comparing Agile and Scrum to Waterfall. And prerequisite coursework in object-oriented design — encapsulation, inheritance, interfaces — let me design clean entity and service structures. That paid off directly when I was able to extend the system with a new loan product type without rewriting existing classes, because the class hierarchy anticipated that kind of extension.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terms of what this internship contributed back to the organization: the modules I built — account management, fund transfer, loan and interest tracking — became genuinely load-bearing parts of the platform, not practice exercises. The transactional safeguards I put around fund transfers prevented a real class of bug involving near-simultaneous debits. The stable, documented API I delivered let the front-end team build in parallel instead of waiting on me, which measurably shortened the time from design to stakeholder demo. And because I was still relatively new to the codebase, I asked questions experienced team members had stopped asking, which surfaced a few stale validation rules worth fixing.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the personal growth side — I learned to treat a project's recent commit history as living documentation, more reliable than an outdated wiki, and that changed how I wrote my own commit messages, explaining why a decision was made, not just what changed. The clearest turning point was when I renamed an API field without telling the front-end team and broke the transfer confirmation screen — that taught me an API is a shared, versioned contract, not something I can change unilaterally, and I now proactively flag even minor field renames before opening a pull request. I also developed an automatic instinct for concurrency — asking what happens if this runs twice at once — which changed the kinds of test cases I wrote, and I built a personal habit of asking myself the three most likely ways a feature could fail before I ever committed to an estimate.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close out the substance of the talk — here's how I met each of the learning outcomes from my internship proposal. SLO 1, applying academic knowledge to real problems: I directly applied database design, secure coding, and object-oriented design to real production constraints. SLO 2, professional communication: daily stand-ups, sprint planning, retrospectives, and cross-team coordination on the API contract. SLO 3, security and data integrity: the transactional safeguards, RBAC, and secure coding practices I've walked through today. And SLO 4, reflecting on my own growth: the API-contract lesson and the shift in how I reason about concurrency are the clearest examples of that.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That covers the internship. Thank you for your time and attention —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F96167"/>
          </a:solidFill>
          <a:ln/>
        </p:spPr>
      </p:sp>
      <p:sp>
        <p:nvSpPr>
          <p:cNvPr id="3" name="Shape 1"/>
          <p:cNvSpPr/>
          <p:nvPr/>
        </p:nvSpPr>
        <p:spPr>
          <a:xfrm>
            <a:off x="0" y="6720840"/>
            <a:ext cx="12188952" cy="137160"/>
          </a:xfrm>
          <a:prstGeom prst="rect">
            <a:avLst/>
          </a:prstGeom>
          <a:solidFill>
            <a:srgbClr val="F96167"/>
          </a:solidFill>
          <a:ln/>
        </p:spPr>
      </p:sp>
      <p:sp>
        <p:nvSpPr>
          <p:cNvPr id="4" name="Text 2"/>
          <p:cNvSpPr/>
          <p:nvPr/>
        </p:nvSpPr>
        <p:spPr>
          <a:xfrm>
            <a:off x="731520" y="1645920"/>
            <a:ext cx="10972800" cy="457200"/>
          </a:xfrm>
          <a:prstGeom prst="rect">
            <a:avLst/>
          </a:prstGeom>
          <a:noFill/>
          <a:ln/>
        </p:spPr>
        <p:txBody>
          <a:bodyPr wrap="square" rtlCol="0" anchor="ctr"/>
          <a:lstStyle/>
          <a:p>
            <a:pPr indent="0" marL="0">
              <a:buNone/>
            </a:pPr>
            <a:r>
              <a:rPr lang="en-US" sz="1400" b="1" spc="600" kern="0" dirty="0">
                <a:solidFill>
                  <a:srgbClr val="CADCFC"/>
                </a:solidFill>
                <a:latin typeface="Calibri" pitchFamily="34" charset="0"/>
                <a:ea typeface="Calibri" pitchFamily="34" charset="-122"/>
                <a:cs typeface="Calibri" pitchFamily="34" charset="-120"/>
              </a:rPr>
              <a:t>INTERNSHIP PROJECT PORTFOLIO</a:t>
            </a:r>
            <a:endParaRPr lang="en-US" sz="1400" dirty="0"/>
          </a:p>
        </p:txBody>
      </p:sp>
      <p:sp>
        <p:nvSpPr>
          <p:cNvPr id="5" name="Text 3"/>
          <p:cNvSpPr/>
          <p:nvPr/>
        </p:nvSpPr>
        <p:spPr>
          <a:xfrm>
            <a:off x="731520" y="2194560"/>
            <a:ext cx="10972800" cy="1097280"/>
          </a:xfrm>
          <a:prstGeom prst="rect">
            <a:avLst/>
          </a:prstGeom>
          <a:noFill/>
          <a:ln/>
        </p:spPr>
        <p:txBody>
          <a:bodyPr wrap="square"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Digital Banking Platform</a:t>
            </a:r>
            <a:endParaRPr lang="en-US" sz="5400" dirty="0"/>
          </a:p>
        </p:txBody>
      </p:sp>
      <p:sp>
        <p:nvSpPr>
          <p:cNvPr id="6" name="Text 4"/>
          <p:cNvSpPr/>
          <p:nvPr/>
        </p:nvSpPr>
        <p:spPr>
          <a:xfrm>
            <a:off x="731520" y="3383280"/>
            <a:ext cx="10972800" cy="548640"/>
          </a:xfrm>
          <a:prstGeom prst="rect">
            <a:avLst/>
          </a:prstGeom>
          <a:noFill/>
          <a:ln/>
        </p:spPr>
        <p:txBody>
          <a:bodyPr wrap="square" rtlCol="0" anchor="ctr"/>
          <a:lstStyle/>
          <a:p>
            <a:pPr indent="0" marL="0">
              <a:buNone/>
            </a:pPr>
            <a:r>
              <a:rPr lang="en-US" sz="2200" i="1" dirty="0">
                <a:solidFill>
                  <a:srgbClr val="CADCFC"/>
                </a:solidFill>
                <a:latin typeface="Calibri" pitchFamily="34" charset="0"/>
                <a:ea typeface="Calibri" pitchFamily="34" charset="-122"/>
                <a:cs typeface="Calibri" pitchFamily="34" charset="-120"/>
              </a:rPr>
              <a:t>A Java Backend Development Internship at Ven Solutions</a:t>
            </a:r>
            <a:endParaRPr lang="en-US" sz="2200" dirty="0"/>
          </a:p>
        </p:txBody>
      </p:sp>
      <p:sp>
        <p:nvSpPr>
          <p:cNvPr id="7" name="Shape 5"/>
          <p:cNvSpPr/>
          <p:nvPr/>
        </p:nvSpPr>
        <p:spPr>
          <a:xfrm>
            <a:off x="731520" y="4206240"/>
            <a:ext cx="1828800" cy="0"/>
          </a:xfrm>
          <a:prstGeom prst="line">
            <a:avLst/>
          </a:prstGeom>
          <a:noFill/>
          <a:ln w="38100">
            <a:solidFill>
              <a:srgbClr val="F96167"/>
            </a:solidFill>
            <a:prstDash val="solid"/>
          </a:ln>
        </p:spPr>
      </p:sp>
      <p:sp>
        <p:nvSpPr>
          <p:cNvPr id="8" name="Text 6"/>
          <p:cNvSpPr/>
          <p:nvPr/>
        </p:nvSpPr>
        <p:spPr>
          <a:xfrm>
            <a:off x="731520" y="4434840"/>
            <a:ext cx="10972800" cy="146304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Sai Kumar Jaladi
</a:t>
            </a:r>
            <a:pPr indent="0" marL="0">
              <a:buNone/>
            </a:pPr>
            <a:r>
              <a:rPr lang="en-US" sz="1400" dirty="0">
                <a:solidFill>
                  <a:srgbClr val="CADCFC"/>
                </a:solidFill>
                <a:latin typeface="Calibri" pitchFamily="34" charset="0"/>
                <a:ea typeface="Calibri" pitchFamily="34" charset="-122"/>
                <a:cs typeface="Calibri" pitchFamily="34" charset="-120"/>
              </a:rPr>
              <a:t>M.S. in Information Assurance
</a:t>
            </a:r>
            <a:pPr indent="0" marL="0">
              <a:buNone/>
            </a:pPr>
            <a:r>
              <a:rPr lang="en-US" sz="1300" dirty="0">
                <a:solidFill>
                  <a:srgbClr val="CADCFC"/>
                </a:solidFill>
                <a:latin typeface="Calibri" pitchFamily="34" charset="0"/>
                <a:ea typeface="Calibri" pitchFamily="34" charset="-122"/>
                <a:cs typeface="Calibri" pitchFamily="34" charset="-120"/>
              </a:rPr>
              <a:t>St. Cloud State University  |  IA 699  |  July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ABOUT</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Program &amp; Committee</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 / 29</a:t>
            </a:r>
            <a:endParaRPr lang="en-US" sz="1000" dirty="0"/>
          </a:p>
        </p:txBody>
      </p:sp>
      <p:sp>
        <p:nvSpPr>
          <p:cNvPr id="9" name="Text 7"/>
          <p:cNvSpPr/>
          <p:nvPr/>
        </p:nvSpPr>
        <p:spPr>
          <a:xfrm>
            <a:off x="640080" y="1737360"/>
            <a:ext cx="5486400" cy="365760"/>
          </a:xfrm>
          <a:prstGeom prst="rect">
            <a:avLst/>
          </a:prstGeom>
          <a:noFill/>
          <a:ln/>
        </p:spPr>
        <p:txBody>
          <a:bodyPr wrap="square"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Academic Context</a:t>
            </a:r>
            <a:endParaRPr lang="en-US" sz="1800" dirty="0"/>
          </a:p>
        </p:txBody>
      </p:sp>
      <p:sp>
        <p:nvSpPr>
          <p:cNvPr id="10" name="Text 8"/>
          <p:cNvSpPr/>
          <p:nvPr/>
        </p:nvSpPr>
        <p:spPr>
          <a:xfrm>
            <a:off x="640080" y="2103120"/>
            <a:ext cx="5486400" cy="4663440"/>
          </a:xfrm>
          <a:prstGeom prst="rect">
            <a:avLst/>
          </a:prstGeom>
          <a:noFill/>
          <a:ln/>
        </p:spPr>
        <p:txBody>
          <a:bodyPr wrap="square" rtlCol="0" anchor="t"/>
          <a:lstStyle/>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Degree: Master of Science in Information Assurance</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Institution: St. Cloud State University</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Course: IA 699 - Internship</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Submission: August 2025 / July 2026</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Author: Sai Kumar Jaladi</a:t>
            </a:r>
            <a:endParaRPr lang="en-US" sz="1600" dirty="0"/>
          </a:p>
        </p:txBody>
      </p:sp>
      <p:sp>
        <p:nvSpPr>
          <p:cNvPr id="11" name="Text 9"/>
          <p:cNvSpPr/>
          <p:nvPr/>
        </p:nvSpPr>
        <p:spPr>
          <a:xfrm>
            <a:off x="6309360" y="1737360"/>
            <a:ext cx="5486400" cy="365760"/>
          </a:xfrm>
          <a:prstGeom prst="rect">
            <a:avLst/>
          </a:prstGeom>
          <a:noFill/>
          <a:ln/>
        </p:spPr>
        <p:txBody>
          <a:bodyPr wrap="square"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Project Committee</a:t>
            </a:r>
            <a:endParaRPr lang="en-US" sz="1800" dirty="0"/>
          </a:p>
        </p:txBody>
      </p:sp>
      <p:sp>
        <p:nvSpPr>
          <p:cNvPr id="12" name="Text 10"/>
          <p:cNvSpPr/>
          <p:nvPr/>
        </p:nvSpPr>
        <p:spPr>
          <a:xfrm>
            <a:off x="6309360" y="2103120"/>
            <a:ext cx="5486400" cy="4663440"/>
          </a:xfrm>
          <a:prstGeom prst="rect">
            <a:avLst/>
          </a:prstGeom>
          <a:noFill/>
          <a:ln/>
        </p:spPr>
        <p:txBody>
          <a:bodyPr wrap="square" rtlCol="0" anchor="t"/>
          <a:lstStyle/>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Dr. Lynn Collen — Department of Information Systems</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Dr. Jieyu Wang — Department of Information Systems</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Prof. Jim Q. Chen — Department of Information Systems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CONTENTS</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Agenda</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3 / 29</a:t>
            </a:r>
            <a:endParaRPr lang="en-US" sz="1000" dirty="0"/>
          </a:p>
        </p:txBody>
      </p:sp>
      <p:sp>
        <p:nvSpPr>
          <p:cNvPr id="9" name="Shape 7"/>
          <p:cNvSpPr/>
          <p:nvPr/>
        </p:nvSpPr>
        <p:spPr>
          <a:xfrm>
            <a:off x="640080" y="1828800"/>
            <a:ext cx="5303520" cy="1188720"/>
          </a:xfrm>
          <a:prstGeom prst="roundRect">
            <a:avLst>
              <a:gd name="adj" fmla="val 7692"/>
            </a:avLst>
          </a:prstGeom>
          <a:solidFill>
            <a:srgbClr val="F5F7FB"/>
          </a:solidFill>
          <a:ln w="12700">
            <a:solidFill>
              <a:srgbClr val="1E2761"/>
            </a:solidFill>
            <a:prstDash val="solid"/>
          </a:ln>
        </p:spPr>
      </p:sp>
      <p:sp>
        <p:nvSpPr>
          <p:cNvPr id="10" name="Shape 8"/>
          <p:cNvSpPr/>
          <p:nvPr/>
        </p:nvSpPr>
        <p:spPr>
          <a:xfrm>
            <a:off x="868680" y="2103120"/>
            <a:ext cx="640080" cy="640080"/>
          </a:xfrm>
          <a:prstGeom prst="ellipse">
            <a:avLst/>
          </a:prstGeom>
          <a:solidFill>
            <a:srgbClr val="1E2761"/>
          </a:solidFill>
          <a:ln/>
        </p:spPr>
      </p:sp>
      <p:sp>
        <p:nvSpPr>
          <p:cNvPr id="11" name="Text 9"/>
          <p:cNvSpPr/>
          <p:nvPr/>
        </p:nvSpPr>
        <p:spPr>
          <a:xfrm>
            <a:off x="868680" y="2103120"/>
            <a:ext cx="640080" cy="6400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12" name="Text 10"/>
          <p:cNvSpPr/>
          <p:nvPr/>
        </p:nvSpPr>
        <p:spPr>
          <a:xfrm>
            <a:off x="1645920" y="2103120"/>
            <a:ext cx="4206240" cy="640080"/>
          </a:xfrm>
          <a:prstGeom prst="rect">
            <a:avLst/>
          </a:prstGeom>
          <a:noFill/>
          <a:ln/>
        </p:spPr>
        <p:txBody>
          <a:bodyPr wrap="square"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Organization Overview</a:t>
            </a:r>
            <a:endParaRPr lang="en-US" sz="1800" dirty="0"/>
          </a:p>
        </p:txBody>
      </p:sp>
      <p:sp>
        <p:nvSpPr>
          <p:cNvPr id="13" name="Shape 11"/>
          <p:cNvSpPr/>
          <p:nvPr/>
        </p:nvSpPr>
        <p:spPr>
          <a:xfrm>
            <a:off x="6309360" y="1828800"/>
            <a:ext cx="5303520" cy="1188720"/>
          </a:xfrm>
          <a:prstGeom prst="roundRect">
            <a:avLst>
              <a:gd name="adj" fmla="val 7692"/>
            </a:avLst>
          </a:prstGeom>
          <a:solidFill>
            <a:srgbClr val="F5F7FB"/>
          </a:solidFill>
          <a:ln w="12700">
            <a:solidFill>
              <a:srgbClr val="1E2761"/>
            </a:solidFill>
            <a:prstDash val="solid"/>
          </a:ln>
        </p:spPr>
      </p:sp>
      <p:sp>
        <p:nvSpPr>
          <p:cNvPr id="14" name="Shape 12"/>
          <p:cNvSpPr/>
          <p:nvPr/>
        </p:nvSpPr>
        <p:spPr>
          <a:xfrm>
            <a:off x="6537960" y="2103120"/>
            <a:ext cx="640080" cy="640080"/>
          </a:xfrm>
          <a:prstGeom prst="ellipse">
            <a:avLst/>
          </a:prstGeom>
          <a:solidFill>
            <a:srgbClr val="1E2761"/>
          </a:solidFill>
          <a:ln/>
        </p:spPr>
      </p:sp>
      <p:sp>
        <p:nvSpPr>
          <p:cNvPr id="15" name="Text 13"/>
          <p:cNvSpPr/>
          <p:nvPr/>
        </p:nvSpPr>
        <p:spPr>
          <a:xfrm>
            <a:off x="6537960" y="2103120"/>
            <a:ext cx="640080" cy="6400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6" name="Text 14"/>
          <p:cNvSpPr/>
          <p:nvPr/>
        </p:nvSpPr>
        <p:spPr>
          <a:xfrm>
            <a:off x="7315200" y="2103120"/>
            <a:ext cx="4206240" cy="640080"/>
          </a:xfrm>
          <a:prstGeom prst="rect">
            <a:avLst/>
          </a:prstGeom>
          <a:noFill/>
          <a:ln/>
        </p:spPr>
        <p:txBody>
          <a:bodyPr wrap="square"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Information Security Infrastructure</a:t>
            </a:r>
            <a:endParaRPr lang="en-US" sz="1800" dirty="0"/>
          </a:p>
        </p:txBody>
      </p:sp>
      <p:sp>
        <p:nvSpPr>
          <p:cNvPr id="17" name="Shape 15"/>
          <p:cNvSpPr/>
          <p:nvPr/>
        </p:nvSpPr>
        <p:spPr>
          <a:xfrm>
            <a:off x="640080" y="3291840"/>
            <a:ext cx="5303520" cy="1188720"/>
          </a:xfrm>
          <a:prstGeom prst="roundRect">
            <a:avLst>
              <a:gd name="adj" fmla="val 7692"/>
            </a:avLst>
          </a:prstGeom>
          <a:solidFill>
            <a:srgbClr val="F5F7FB"/>
          </a:solidFill>
          <a:ln w="12700">
            <a:solidFill>
              <a:srgbClr val="1E2761"/>
            </a:solidFill>
            <a:prstDash val="solid"/>
          </a:ln>
        </p:spPr>
      </p:sp>
      <p:sp>
        <p:nvSpPr>
          <p:cNvPr id="18" name="Shape 16"/>
          <p:cNvSpPr/>
          <p:nvPr/>
        </p:nvSpPr>
        <p:spPr>
          <a:xfrm>
            <a:off x="868680" y="3566160"/>
            <a:ext cx="640080" cy="640080"/>
          </a:xfrm>
          <a:prstGeom prst="ellipse">
            <a:avLst/>
          </a:prstGeom>
          <a:solidFill>
            <a:srgbClr val="1E2761"/>
          </a:solidFill>
          <a:ln/>
        </p:spPr>
      </p:sp>
      <p:sp>
        <p:nvSpPr>
          <p:cNvPr id="19" name="Text 17"/>
          <p:cNvSpPr/>
          <p:nvPr/>
        </p:nvSpPr>
        <p:spPr>
          <a:xfrm>
            <a:off x="868680" y="3566160"/>
            <a:ext cx="640080" cy="6400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20" name="Text 18"/>
          <p:cNvSpPr/>
          <p:nvPr/>
        </p:nvSpPr>
        <p:spPr>
          <a:xfrm>
            <a:off x="1645920" y="3566160"/>
            <a:ext cx="4206240" cy="640080"/>
          </a:xfrm>
          <a:prstGeom prst="rect">
            <a:avLst/>
          </a:prstGeom>
          <a:noFill/>
          <a:ln/>
        </p:spPr>
        <p:txBody>
          <a:bodyPr wrap="square"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My Work &amp; Project Description</a:t>
            </a:r>
            <a:endParaRPr lang="en-US" sz="1800" dirty="0"/>
          </a:p>
        </p:txBody>
      </p:sp>
      <p:sp>
        <p:nvSpPr>
          <p:cNvPr id="21" name="Shape 19"/>
          <p:cNvSpPr/>
          <p:nvPr/>
        </p:nvSpPr>
        <p:spPr>
          <a:xfrm>
            <a:off x="6309360" y="3291840"/>
            <a:ext cx="5303520" cy="1188720"/>
          </a:xfrm>
          <a:prstGeom prst="roundRect">
            <a:avLst>
              <a:gd name="adj" fmla="val 7692"/>
            </a:avLst>
          </a:prstGeom>
          <a:solidFill>
            <a:srgbClr val="F5F7FB"/>
          </a:solidFill>
          <a:ln w="12700">
            <a:solidFill>
              <a:srgbClr val="1E2761"/>
            </a:solidFill>
            <a:prstDash val="solid"/>
          </a:ln>
        </p:spPr>
      </p:sp>
      <p:sp>
        <p:nvSpPr>
          <p:cNvPr id="22" name="Shape 20"/>
          <p:cNvSpPr/>
          <p:nvPr/>
        </p:nvSpPr>
        <p:spPr>
          <a:xfrm>
            <a:off x="6537960" y="3566160"/>
            <a:ext cx="640080" cy="640080"/>
          </a:xfrm>
          <a:prstGeom prst="ellipse">
            <a:avLst/>
          </a:prstGeom>
          <a:solidFill>
            <a:srgbClr val="1E2761"/>
          </a:solidFill>
          <a:ln/>
        </p:spPr>
      </p:sp>
      <p:sp>
        <p:nvSpPr>
          <p:cNvPr id="23" name="Text 21"/>
          <p:cNvSpPr/>
          <p:nvPr/>
        </p:nvSpPr>
        <p:spPr>
          <a:xfrm>
            <a:off x="6537960" y="3566160"/>
            <a:ext cx="640080" cy="6400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4" name="Text 22"/>
          <p:cNvSpPr/>
          <p:nvPr/>
        </p:nvSpPr>
        <p:spPr>
          <a:xfrm>
            <a:off x="7315200" y="3566160"/>
            <a:ext cx="4206240" cy="640080"/>
          </a:xfrm>
          <a:prstGeom prst="rect">
            <a:avLst/>
          </a:prstGeom>
          <a:noFill/>
          <a:ln/>
        </p:spPr>
        <p:txBody>
          <a:bodyPr wrap="square"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Courses That Helped</a:t>
            </a:r>
            <a:endParaRPr lang="en-US" sz="1800" dirty="0"/>
          </a:p>
        </p:txBody>
      </p:sp>
      <p:sp>
        <p:nvSpPr>
          <p:cNvPr id="25" name="Shape 23"/>
          <p:cNvSpPr/>
          <p:nvPr/>
        </p:nvSpPr>
        <p:spPr>
          <a:xfrm>
            <a:off x="640080" y="4754880"/>
            <a:ext cx="5303520" cy="1188720"/>
          </a:xfrm>
          <a:prstGeom prst="roundRect">
            <a:avLst>
              <a:gd name="adj" fmla="val 7692"/>
            </a:avLst>
          </a:prstGeom>
          <a:solidFill>
            <a:srgbClr val="F5F7FB"/>
          </a:solidFill>
          <a:ln w="12700">
            <a:solidFill>
              <a:srgbClr val="1E2761"/>
            </a:solidFill>
            <a:prstDash val="solid"/>
          </a:ln>
        </p:spPr>
      </p:sp>
      <p:sp>
        <p:nvSpPr>
          <p:cNvPr id="26" name="Shape 24"/>
          <p:cNvSpPr/>
          <p:nvPr/>
        </p:nvSpPr>
        <p:spPr>
          <a:xfrm>
            <a:off x="868680" y="5029200"/>
            <a:ext cx="640080" cy="640080"/>
          </a:xfrm>
          <a:prstGeom prst="ellipse">
            <a:avLst/>
          </a:prstGeom>
          <a:solidFill>
            <a:srgbClr val="1E2761"/>
          </a:solidFill>
          <a:ln/>
        </p:spPr>
      </p:sp>
      <p:sp>
        <p:nvSpPr>
          <p:cNvPr id="27" name="Text 25"/>
          <p:cNvSpPr/>
          <p:nvPr/>
        </p:nvSpPr>
        <p:spPr>
          <a:xfrm>
            <a:off x="868680" y="5029200"/>
            <a:ext cx="640080" cy="6400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28" name="Text 26"/>
          <p:cNvSpPr/>
          <p:nvPr/>
        </p:nvSpPr>
        <p:spPr>
          <a:xfrm>
            <a:off x="1645920" y="5029200"/>
            <a:ext cx="4206240" cy="640080"/>
          </a:xfrm>
          <a:prstGeom prst="rect">
            <a:avLst/>
          </a:prstGeom>
          <a:noFill/>
          <a:ln/>
        </p:spPr>
        <p:txBody>
          <a:bodyPr wrap="square"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Overall Impressions</a:t>
            </a:r>
            <a:endParaRPr lang="en-US" sz="1800" dirty="0"/>
          </a:p>
        </p:txBody>
      </p:sp>
      <p:sp>
        <p:nvSpPr>
          <p:cNvPr id="29" name="Shape 27"/>
          <p:cNvSpPr/>
          <p:nvPr/>
        </p:nvSpPr>
        <p:spPr>
          <a:xfrm>
            <a:off x="6309360" y="4754880"/>
            <a:ext cx="5303520" cy="1188720"/>
          </a:xfrm>
          <a:prstGeom prst="roundRect">
            <a:avLst>
              <a:gd name="adj" fmla="val 7692"/>
            </a:avLst>
          </a:prstGeom>
          <a:solidFill>
            <a:srgbClr val="F5F7FB"/>
          </a:solidFill>
          <a:ln w="12700">
            <a:solidFill>
              <a:srgbClr val="1E2761"/>
            </a:solidFill>
            <a:prstDash val="solid"/>
          </a:ln>
        </p:spPr>
      </p:sp>
      <p:sp>
        <p:nvSpPr>
          <p:cNvPr id="30" name="Shape 28"/>
          <p:cNvSpPr/>
          <p:nvPr/>
        </p:nvSpPr>
        <p:spPr>
          <a:xfrm>
            <a:off x="6537960" y="5029200"/>
            <a:ext cx="640080" cy="640080"/>
          </a:xfrm>
          <a:prstGeom prst="ellipse">
            <a:avLst/>
          </a:prstGeom>
          <a:solidFill>
            <a:srgbClr val="1E2761"/>
          </a:solidFill>
          <a:ln/>
        </p:spPr>
      </p:sp>
      <p:sp>
        <p:nvSpPr>
          <p:cNvPr id="31" name="Text 29"/>
          <p:cNvSpPr/>
          <p:nvPr/>
        </p:nvSpPr>
        <p:spPr>
          <a:xfrm>
            <a:off x="6537960" y="5029200"/>
            <a:ext cx="640080" cy="6400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6</a:t>
            </a:r>
            <a:endParaRPr lang="en-US" sz="2200" dirty="0"/>
          </a:p>
        </p:txBody>
      </p:sp>
      <p:sp>
        <p:nvSpPr>
          <p:cNvPr id="32" name="Text 30"/>
          <p:cNvSpPr/>
          <p:nvPr/>
        </p:nvSpPr>
        <p:spPr>
          <a:xfrm>
            <a:off x="7315200" y="5029200"/>
            <a:ext cx="4206240" cy="640080"/>
          </a:xfrm>
          <a:prstGeom prst="rect">
            <a:avLst/>
          </a:prstGeom>
          <a:noFill/>
          <a:ln/>
        </p:spPr>
        <p:txBody>
          <a:bodyPr wrap="square"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Learning Outcomes (SLOs)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40080" y="2743200"/>
            <a:ext cx="137160" cy="1371600"/>
          </a:xfrm>
          <a:prstGeom prst="rect">
            <a:avLst/>
          </a:prstGeom>
          <a:solidFill>
            <a:srgbClr val="F96167"/>
          </a:solidFill>
          <a:ln/>
        </p:spPr>
      </p:sp>
      <p:sp>
        <p:nvSpPr>
          <p:cNvPr id="3" name="Text 1"/>
          <p:cNvSpPr/>
          <p:nvPr/>
        </p:nvSpPr>
        <p:spPr>
          <a:xfrm>
            <a:off x="1005840" y="2743200"/>
            <a:ext cx="10058400" cy="457200"/>
          </a:xfrm>
          <a:prstGeom prst="rect">
            <a:avLst/>
          </a:prstGeom>
          <a:noFill/>
          <a:ln/>
        </p:spPr>
        <p:txBody>
          <a:bodyPr wrap="square" rtlCol="0" anchor="ctr"/>
          <a:lstStyle/>
          <a:p>
            <a:pPr indent="0" marL="0">
              <a:buNone/>
            </a:pPr>
            <a:r>
              <a:rPr lang="en-US" sz="1600" b="1" spc="600" kern="0" dirty="0">
                <a:solidFill>
                  <a:srgbClr val="CADCFC"/>
                </a:solidFill>
                <a:latin typeface="Calibri" pitchFamily="34" charset="0"/>
                <a:ea typeface="Calibri" pitchFamily="34" charset="-122"/>
                <a:cs typeface="Calibri" pitchFamily="34" charset="-120"/>
              </a:rPr>
              <a:t>SECTION 1</a:t>
            </a:r>
            <a:endParaRPr lang="en-US" sz="1600" dirty="0"/>
          </a:p>
        </p:txBody>
      </p:sp>
      <p:sp>
        <p:nvSpPr>
          <p:cNvPr id="4" name="Text 2"/>
          <p:cNvSpPr/>
          <p:nvPr/>
        </p:nvSpPr>
        <p:spPr>
          <a:xfrm>
            <a:off x="1005840" y="3200400"/>
            <a:ext cx="10058400" cy="1097280"/>
          </a:xfrm>
          <a:prstGeom prst="rect">
            <a:avLst/>
          </a:prstGeom>
          <a:noFill/>
          <a:ln/>
        </p:spPr>
        <p:txBody>
          <a:bodyPr wrap="square"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Organization Overview</a:t>
            </a:r>
            <a:endParaRPr lang="en-US" sz="4400" dirty="0"/>
          </a:p>
        </p:txBody>
      </p:sp>
      <p:sp>
        <p:nvSpPr>
          <p:cNvPr id="5" name="Shape 3"/>
          <p:cNvSpPr/>
          <p:nvPr/>
        </p:nvSpPr>
        <p:spPr>
          <a:xfrm>
            <a:off x="0" y="6629400"/>
            <a:ext cx="12188952" cy="228600"/>
          </a:xfrm>
          <a:prstGeom prst="rect">
            <a:avLst/>
          </a:prstGeom>
          <a:solidFill>
            <a:srgbClr val="1E2761"/>
          </a:solidFill>
          <a:ln/>
        </p:spPr>
      </p:sp>
      <p:sp>
        <p:nvSpPr>
          <p:cNvPr id="6" name="Text 4"/>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7" name="Text 5"/>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4 / 29</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THE FIRM</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Ven Solutions — General Information</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5 / 29</a:t>
            </a:r>
            <a:endParaRPr lang="en-US" sz="1000" dirty="0"/>
          </a:p>
        </p:txBody>
      </p:sp>
      <p:sp>
        <p:nvSpPr>
          <p:cNvPr id="9" name="Text 7"/>
          <p:cNvSpPr/>
          <p:nvPr/>
        </p:nvSpPr>
        <p:spPr>
          <a:xfrm>
            <a:off x="640080" y="1737360"/>
            <a:ext cx="10972800" cy="4663440"/>
          </a:xfrm>
          <a:prstGeom prst="rect">
            <a:avLst/>
          </a:prstGeom>
          <a:noFill/>
          <a:ln/>
        </p:spPr>
        <p:txBody>
          <a:bodyPr wrap="square" rtlCol="0" anchor="t"/>
          <a:lstStyle/>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Regional community bank headquartered in a central U.S. metropolitan area, serving customers nationwide.</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Product portfolio: checking &amp; savings accounts, consumer and business loans, and full digital account access.</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Grew through acquisitions of community banks and by expanding self-built banking relationships.</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Technology division operates like a 'bank within the bank' — its own budget, release calendar, and internal customers.</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Internship completed as a Java Backend Developer on a 6-person Agile team using Java, Spring Boot, and MySQL.</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Contributions spanned requirements analysis, database design, RESTful APIs, unit testing, and code deployment.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STRATEGIC CONTEXT</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Mission, Vision &amp; Digital Shift</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6 / 29</a:t>
            </a:r>
            <a:endParaRPr lang="en-US" sz="1000" dirty="0"/>
          </a:p>
        </p:txBody>
      </p:sp>
      <p:sp>
        <p:nvSpPr>
          <p:cNvPr id="9" name="Shape 7"/>
          <p:cNvSpPr/>
          <p:nvPr/>
        </p:nvSpPr>
        <p:spPr>
          <a:xfrm>
            <a:off x="640080" y="1737360"/>
            <a:ext cx="5486400" cy="2194560"/>
          </a:xfrm>
          <a:prstGeom prst="roundRect">
            <a:avLst>
              <a:gd name="adj" fmla="val 4167"/>
            </a:avLst>
          </a:prstGeom>
          <a:solidFill>
            <a:srgbClr val="F5F7FB"/>
          </a:solidFill>
          <a:ln w="12700">
            <a:solidFill>
              <a:srgbClr val="1E2761"/>
            </a:solidFill>
            <a:prstDash val="solid"/>
          </a:ln>
        </p:spPr>
      </p:sp>
      <p:sp>
        <p:nvSpPr>
          <p:cNvPr id="10" name="Text 8"/>
          <p:cNvSpPr/>
          <p:nvPr/>
        </p:nvSpPr>
        <p:spPr>
          <a:xfrm>
            <a:off x="822960" y="1828800"/>
            <a:ext cx="5120640" cy="365760"/>
          </a:xfrm>
          <a:prstGeom prst="rect">
            <a:avLst/>
          </a:prstGeom>
          <a:noFill/>
          <a:ln/>
        </p:spPr>
        <p:txBody>
          <a:bodyPr wrap="square" rtlCol="0" anchor="ctr"/>
          <a:lstStyle/>
          <a:p>
            <a:pPr indent="0" marL="0">
              <a:buNone/>
            </a:pPr>
            <a:r>
              <a:rPr lang="en-US" sz="1600" b="1" dirty="0">
                <a:solidFill>
                  <a:srgbClr val="F96167"/>
                </a:solidFill>
                <a:latin typeface="Georgia" pitchFamily="34" charset="0"/>
                <a:ea typeface="Georgia" pitchFamily="34" charset="-122"/>
                <a:cs typeface="Georgia" pitchFamily="34" charset="-120"/>
              </a:rPr>
              <a:t>Mission</a:t>
            </a:r>
            <a:endParaRPr lang="en-US" sz="1600" dirty="0"/>
          </a:p>
        </p:txBody>
      </p:sp>
      <p:sp>
        <p:nvSpPr>
          <p:cNvPr id="11" name="Text 9"/>
          <p:cNvSpPr/>
          <p:nvPr/>
        </p:nvSpPr>
        <p:spPr>
          <a:xfrm>
            <a:off x="822960" y="2240280"/>
            <a:ext cx="5120640" cy="1645920"/>
          </a:xfrm>
          <a:prstGeom prst="rect">
            <a:avLst/>
          </a:prstGeom>
          <a:noFill/>
          <a:ln/>
        </p:spPr>
        <p:txBody>
          <a:bodyPr wrap="square" rtlCol="0" anchor="t"/>
          <a:lstStyle/>
          <a:p>
            <a:pPr indent="0" marL="0">
              <a:buNone/>
            </a:pPr>
            <a:r>
              <a:rPr lang="en-US" sz="1400" dirty="0">
                <a:solidFill>
                  <a:srgbClr val="3A3F5C"/>
                </a:solidFill>
                <a:latin typeface="Calibri" pitchFamily="34" charset="0"/>
                <a:ea typeface="Calibri" pitchFamily="34" charset="-122"/>
                <a:cs typeface="Calibri" pitchFamily="34" charset="-120"/>
              </a:rPr>
              <a:t>Provide reliable, safe, and convenient financial services to all customers — regardless of technical experience.</a:t>
            </a:r>
            <a:endParaRPr lang="en-US" sz="1400" dirty="0"/>
          </a:p>
        </p:txBody>
      </p:sp>
      <p:sp>
        <p:nvSpPr>
          <p:cNvPr id="12" name="Shape 10"/>
          <p:cNvSpPr/>
          <p:nvPr/>
        </p:nvSpPr>
        <p:spPr>
          <a:xfrm>
            <a:off x="6309360" y="1737360"/>
            <a:ext cx="5486400" cy="2194560"/>
          </a:xfrm>
          <a:prstGeom prst="roundRect">
            <a:avLst>
              <a:gd name="adj" fmla="val 4167"/>
            </a:avLst>
          </a:prstGeom>
          <a:solidFill>
            <a:srgbClr val="F5F7FB"/>
          </a:solidFill>
          <a:ln w="12700">
            <a:solidFill>
              <a:srgbClr val="1E2761"/>
            </a:solidFill>
            <a:prstDash val="solid"/>
          </a:ln>
        </p:spPr>
      </p:sp>
      <p:sp>
        <p:nvSpPr>
          <p:cNvPr id="13" name="Text 11"/>
          <p:cNvSpPr/>
          <p:nvPr/>
        </p:nvSpPr>
        <p:spPr>
          <a:xfrm>
            <a:off x="6492240" y="1828800"/>
            <a:ext cx="5120640" cy="365760"/>
          </a:xfrm>
          <a:prstGeom prst="rect">
            <a:avLst/>
          </a:prstGeom>
          <a:noFill/>
          <a:ln/>
        </p:spPr>
        <p:txBody>
          <a:bodyPr wrap="square" rtlCol="0" anchor="ctr"/>
          <a:lstStyle/>
          <a:p>
            <a:pPr indent="0" marL="0">
              <a:buNone/>
            </a:pPr>
            <a:r>
              <a:rPr lang="en-US" sz="1600" b="1" dirty="0">
                <a:solidFill>
                  <a:srgbClr val="F96167"/>
                </a:solidFill>
                <a:latin typeface="Georgia" pitchFamily="34" charset="0"/>
                <a:ea typeface="Georgia" pitchFamily="34" charset="-122"/>
                <a:cs typeface="Georgia" pitchFamily="34" charset="-120"/>
              </a:rPr>
              <a:t>Vision</a:t>
            </a:r>
            <a:endParaRPr lang="en-US" sz="1600" dirty="0"/>
          </a:p>
        </p:txBody>
      </p:sp>
      <p:sp>
        <p:nvSpPr>
          <p:cNvPr id="14" name="Text 12"/>
          <p:cNvSpPr/>
          <p:nvPr/>
        </p:nvSpPr>
        <p:spPr>
          <a:xfrm>
            <a:off x="6492240" y="2240280"/>
            <a:ext cx="5120640" cy="1645920"/>
          </a:xfrm>
          <a:prstGeom prst="rect">
            <a:avLst/>
          </a:prstGeom>
          <a:noFill/>
          <a:ln/>
        </p:spPr>
        <p:txBody>
          <a:bodyPr wrap="square" rtlCol="0" anchor="t"/>
          <a:lstStyle/>
          <a:p>
            <a:pPr indent="0" marL="0">
              <a:buNone/>
            </a:pPr>
            <a:r>
              <a:rPr lang="en-US" sz="1400" dirty="0">
                <a:solidFill>
                  <a:srgbClr val="3A3F5C"/>
                </a:solidFill>
                <a:latin typeface="Calibri" pitchFamily="34" charset="0"/>
                <a:ea typeface="Calibri" pitchFamily="34" charset="-122"/>
                <a:cs typeface="Calibri" pitchFamily="34" charset="-120"/>
              </a:rPr>
              <a:t>Be a trusted bank to its communities by combining superior in-branch service with safe, innovative online banking.</a:t>
            </a:r>
            <a:endParaRPr lang="en-US" sz="1400" dirty="0"/>
          </a:p>
        </p:txBody>
      </p:sp>
      <p:sp>
        <p:nvSpPr>
          <p:cNvPr id="15" name="Text 13"/>
          <p:cNvSpPr/>
          <p:nvPr/>
        </p:nvSpPr>
        <p:spPr>
          <a:xfrm>
            <a:off x="640080" y="4114800"/>
            <a:ext cx="10972800" cy="365760"/>
          </a:xfrm>
          <a:prstGeom prst="rect">
            <a:avLst/>
          </a:prstGeom>
          <a:noFill/>
          <a:ln/>
        </p:spPr>
        <p:txBody>
          <a:bodyPr wrap="square"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Industry-wide digital shift observed from inside</a:t>
            </a:r>
            <a:endParaRPr lang="en-US" sz="1600" dirty="0"/>
          </a:p>
        </p:txBody>
      </p:sp>
      <p:sp>
        <p:nvSpPr>
          <p:cNvPr id="16" name="Text 14"/>
          <p:cNvSpPr/>
          <p:nvPr/>
        </p:nvSpPr>
        <p:spPr>
          <a:xfrm>
            <a:off x="640080" y="4480560"/>
            <a:ext cx="11155680" cy="4663440"/>
          </a:xfrm>
          <a:prstGeom prst="rect">
            <a:avLst/>
          </a:prstGeom>
          <a:noFill/>
          <a:ln/>
        </p:spPr>
        <p:txBody>
          <a:bodyPr wrap="square" rtlCol="0" anchor="t"/>
          <a:lstStyle/>
          <a:p>
            <a:pPr marL="342900" indent="-342900">
              <a:spcAft>
                <a:spcPts val="800"/>
              </a:spcAft>
              <a:buSzPct val="100000"/>
              <a:buChar char="■"/>
            </a:pPr>
            <a:r>
              <a:rPr lang="en-US" sz="1400" dirty="0">
                <a:solidFill>
                  <a:srgbClr val="3A3F5C"/>
                </a:solidFill>
                <a:latin typeface="Calibri" pitchFamily="34" charset="0"/>
                <a:ea typeface="Calibri" pitchFamily="34" charset="-122"/>
                <a:cs typeface="Calibri" pitchFamily="34" charset="-120"/>
              </a:rPr>
              <a:t>Sprint planning increasingly referenced mobile &amp; web usage data over branch foot traffic.</a:t>
            </a:r>
            <a:endParaRPr lang="en-US" sz="1400" dirty="0"/>
          </a:p>
          <a:p>
            <a:pPr marL="342900" indent="-342900">
              <a:spcAft>
                <a:spcPts val="800"/>
              </a:spcAft>
              <a:buSzPct val="100000"/>
              <a:buChar char="■"/>
            </a:pPr>
            <a:r>
              <a:rPr lang="en-US" sz="1400" dirty="0">
                <a:solidFill>
                  <a:srgbClr val="3A3F5C"/>
                </a:solidFill>
                <a:latin typeface="Calibri" pitchFamily="34" charset="0"/>
                <a:ea typeface="Calibri" pitchFamily="34" charset="-122"/>
                <a:cs typeface="Calibri" pitchFamily="34" charset="-120"/>
              </a:rPr>
              <a:t>Several senior engineers transferred from branch systems into the Digital Banking Platform team by choice.</a:t>
            </a:r>
            <a:endParaRPr lang="en-US" sz="1400" dirty="0"/>
          </a:p>
          <a:p>
            <a:pPr marL="342900" indent="-342900">
              <a:spcAft>
                <a:spcPts val="800"/>
              </a:spcAft>
              <a:buSzPct val="100000"/>
              <a:buChar char="■"/>
            </a:pPr>
            <a:r>
              <a:rPr lang="en-US" sz="1400" dirty="0">
                <a:solidFill>
                  <a:srgbClr val="3A3F5C"/>
                </a:solidFill>
                <a:latin typeface="Calibri" pitchFamily="34" charset="0"/>
                <a:ea typeface="Calibri" pitchFamily="34" charset="-122"/>
                <a:cs typeface="Calibri" pitchFamily="34" charset="-120"/>
              </a:rPr>
              <a:t>Accessibility and plain-language error messaging treated as first-class requirements, not afterthoughts.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PROJECT BACKGROUND</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The Digital Banking Platform (DBP)</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7 / 29</a:t>
            </a:r>
            <a:endParaRPr lang="en-US" sz="1000" dirty="0"/>
          </a:p>
        </p:txBody>
      </p:sp>
      <p:sp>
        <p:nvSpPr>
          <p:cNvPr id="9" name="Text 7"/>
          <p:cNvSpPr/>
          <p:nvPr/>
        </p:nvSpPr>
        <p:spPr>
          <a:xfrm>
            <a:off x="640080" y="1737360"/>
            <a:ext cx="5486400" cy="365760"/>
          </a:xfrm>
          <a:prstGeom prst="rect">
            <a:avLst/>
          </a:prstGeom>
          <a:noFill/>
          <a:ln/>
        </p:spPr>
        <p:txBody>
          <a:bodyPr wrap="square" rtlCol="0" anchor="ctr"/>
          <a:lstStyle/>
          <a:p>
            <a:pPr indent="0" marL="0">
              <a:buNone/>
            </a:pPr>
            <a:r>
              <a:rPr lang="en-US" sz="1800" b="1" dirty="0">
                <a:solidFill>
                  <a:srgbClr val="F96167"/>
                </a:solidFill>
                <a:latin typeface="Georgia" pitchFamily="34" charset="0"/>
                <a:ea typeface="Georgia" pitchFamily="34" charset="-122"/>
                <a:cs typeface="Georgia" pitchFamily="34" charset="-120"/>
              </a:rPr>
              <a:t>Before DBP</a:t>
            </a:r>
            <a:endParaRPr lang="en-US" sz="1800" dirty="0"/>
          </a:p>
        </p:txBody>
      </p:sp>
      <p:sp>
        <p:nvSpPr>
          <p:cNvPr id="10" name="Text 8"/>
          <p:cNvSpPr/>
          <p:nvPr/>
        </p:nvSpPr>
        <p:spPr>
          <a:xfrm>
            <a:off x="640080" y="2103120"/>
            <a:ext cx="5486400" cy="4663440"/>
          </a:xfrm>
          <a:prstGeom prst="rect">
            <a:avLst/>
          </a:prstGeom>
          <a:noFill/>
          <a:ln/>
        </p:spPr>
        <p:txBody>
          <a:bodyPr wrap="square" rtlCol="0" anchor="t"/>
          <a:lstStyle/>
          <a:p>
            <a:pPr marL="342900" indent="-342900">
              <a:spcAft>
                <a:spcPts val="800"/>
              </a:spcAft>
              <a:buSzPct val="100000"/>
              <a:buChar char="■"/>
            </a:pPr>
            <a:r>
              <a:rPr lang="en-US" sz="1400" dirty="0">
                <a:solidFill>
                  <a:srgbClr val="3A3F5C"/>
                </a:solidFill>
                <a:latin typeface="Calibri" pitchFamily="34" charset="0"/>
                <a:ea typeface="Calibri" pitchFamily="34" charset="-122"/>
                <a:cs typeface="Calibri" pitchFamily="34" charset="-120"/>
              </a:rPr>
              <a:t>Balance checks and transfers required a branch visit.</a:t>
            </a:r>
            <a:endParaRPr lang="en-US" sz="1400" dirty="0"/>
          </a:p>
          <a:p>
            <a:pPr marL="342900" indent="-342900">
              <a:spcAft>
                <a:spcPts val="800"/>
              </a:spcAft>
              <a:buSzPct val="100000"/>
              <a:buChar char="■"/>
            </a:pPr>
            <a:r>
              <a:rPr lang="en-US" sz="1400" dirty="0">
                <a:solidFill>
                  <a:srgbClr val="3A3F5C"/>
                </a:solidFill>
                <a:latin typeface="Calibri" pitchFamily="34" charset="0"/>
                <a:ea typeface="Calibri" pitchFamily="34" charset="-122"/>
                <a:cs typeface="Calibri" pitchFamily="34" charset="-120"/>
              </a:rPr>
              <a:t>Interest was applied through a lengthy manual process.</a:t>
            </a:r>
            <a:endParaRPr lang="en-US" sz="1400" dirty="0"/>
          </a:p>
          <a:p>
            <a:pPr marL="342900" indent="-342900">
              <a:spcAft>
                <a:spcPts val="800"/>
              </a:spcAft>
              <a:buSzPct val="100000"/>
              <a:buChar char="■"/>
            </a:pPr>
            <a:r>
              <a:rPr lang="en-US" sz="1400" dirty="0">
                <a:solidFill>
                  <a:srgbClr val="3A3F5C"/>
                </a:solidFill>
                <a:latin typeface="Calibri" pitchFamily="34" charset="0"/>
                <a:ea typeface="Calibri" pitchFamily="34" charset="-122"/>
                <a:cs typeface="Calibri" pitchFamily="34" charset="-120"/>
              </a:rPr>
              <a:t>Inconsistent customer experience across branches.</a:t>
            </a:r>
            <a:endParaRPr lang="en-US" sz="1400" dirty="0"/>
          </a:p>
          <a:p>
            <a:pPr marL="342900" indent="-342900">
              <a:spcAft>
                <a:spcPts val="800"/>
              </a:spcAft>
              <a:buSzPct val="100000"/>
              <a:buChar char="■"/>
            </a:pPr>
            <a:r>
              <a:rPr lang="en-US" sz="1400" dirty="0">
                <a:solidFill>
                  <a:srgbClr val="3A3F5C"/>
                </a:solidFill>
                <a:latin typeface="Calibri" pitchFamily="34" charset="0"/>
                <a:ea typeface="Calibri" pitchFamily="34" charset="-122"/>
                <a:cs typeface="Calibri" pitchFamily="34" charset="-120"/>
              </a:rPr>
              <a:t>Undocumented, single-point-of-failure knowledge held by individual staff.</a:t>
            </a:r>
            <a:endParaRPr lang="en-US" sz="1400" dirty="0"/>
          </a:p>
          <a:p>
            <a:pPr marL="342900" indent="-342900">
              <a:spcAft>
                <a:spcPts val="800"/>
              </a:spcAft>
              <a:buSzPct val="100000"/>
              <a:buChar char="■"/>
            </a:pPr>
            <a:r>
              <a:rPr lang="en-US" sz="1400" dirty="0">
                <a:solidFill>
                  <a:srgbClr val="3A3F5C"/>
                </a:solidFill>
                <a:latin typeface="Calibri" pitchFamily="34" charset="0"/>
                <a:ea typeface="Calibri" pitchFamily="34" charset="-122"/>
                <a:cs typeface="Calibri" pitchFamily="34" charset="-120"/>
              </a:rPr>
              <a:t>Limited ability to scale as the customer base grew.</a:t>
            </a:r>
            <a:endParaRPr lang="en-US" sz="1400" dirty="0"/>
          </a:p>
        </p:txBody>
      </p:sp>
      <p:sp>
        <p:nvSpPr>
          <p:cNvPr id="11" name="Text 9"/>
          <p:cNvSpPr/>
          <p:nvPr/>
        </p:nvSpPr>
        <p:spPr>
          <a:xfrm>
            <a:off x="6309360" y="1737360"/>
            <a:ext cx="5486400" cy="365760"/>
          </a:xfrm>
          <a:prstGeom prst="rect">
            <a:avLst/>
          </a:prstGeom>
          <a:noFill/>
          <a:ln/>
        </p:spPr>
        <p:txBody>
          <a:bodyPr wrap="square"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After DBP</a:t>
            </a:r>
            <a:endParaRPr lang="en-US" sz="1800" dirty="0"/>
          </a:p>
        </p:txBody>
      </p:sp>
      <p:sp>
        <p:nvSpPr>
          <p:cNvPr id="12" name="Text 10"/>
          <p:cNvSpPr/>
          <p:nvPr/>
        </p:nvSpPr>
        <p:spPr>
          <a:xfrm>
            <a:off x="6309360" y="2103120"/>
            <a:ext cx="5486400" cy="4663440"/>
          </a:xfrm>
          <a:prstGeom prst="rect">
            <a:avLst/>
          </a:prstGeom>
          <a:noFill/>
          <a:ln/>
        </p:spPr>
        <p:txBody>
          <a:bodyPr wrap="square" rtlCol="0" anchor="t"/>
          <a:lstStyle/>
          <a:p>
            <a:pPr marL="342900" indent="-342900">
              <a:spcAft>
                <a:spcPts val="800"/>
              </a:spcAft>
              <a:buSzPct val="100000"/>
              <a:buChar char="■"/>
            </a:pPr>
            <a:r>
              <a:rPr lang="en-US" sz="1400" dirty="0">
                <a:solidFill>
                  <a:srgbClr val="3A3F5C"/>
                </a:solidFill>
                <a:latin typeface="Calibri" pitchFamily="34" charset="0"/>
                <a:ea typeface="Calibri" pitchFamily="34" charset="-122"/>
                <a:cs typeface="Calibri" pitchFamily="34" charset="-120"/>
              </a:rPr>
              <a:t>Self-service digital channel for balances, transfers, and loan data.</a:t>
            </a:r>
            <a:endParaRPr lang="en-US" sz="1400" dirty="0"/>
          </a:p>
          <a:p>
            <a:pPr marL="342900" indent="-342900">
              <a:spcAft>
                <a:spcPts val="800"/>
              </a:spcAft>
              <a:buSzPct val="100000"/>
              <a:buChar char="■"/>
            </a:pPr>
            <a:r>
              <a:rPr lang="en-US" sz="1400" dirty="0">
                <a:solidFill>
                  <a:srgbClr val="3A3F5C"/>
                </a:solidFill>
                <a:latin typeface="Calibri" pitchFamily="34" charset="0"/>
                <a:ea typeface="Calibri" pitchFamily="34" charset="-122"/>
                <a:cs typeface="Calibri" pitchFamily="34" charset="-120"/>
              </a:rPr>
              <a:t>Deterministic calculations replace manual reconciliation.</a:t>
            </a:r>
            <a:endParaRPr lang="en-US" sz="1400" dirty="0"/>
          </a:p>
          <a:p>
            <a:pPr marL="342900" indent="-342900">
              <a:spcAft>
                <a:spcPts val="800"/>
              </a:spcAft>
              <a:buSzPct val="100000"/>
              <a:buChar char="■"/>
            </a:pPr>
            <a:r>
              <a:rPr lang="en-US" sz="1400" dirty="0">
                <a:solidFill>
                  <a:srgbClr val="3A3F5C"/>
                </a:solidFill>
                <a:latin typeface="Calibri" pitchFamily="34" charset="0"/>
                <a:ea typeface="Calibri" pitchFamily="34" charset="-122"/>
                <a:cs typeface="Calibri" pitchFamily="34" charset="-120"/>
              </a:rPr>
              <a:t>Consistent customer experience across web and mobile.</a:t>
            </a:r>
            <a:endParaRPr lang="en-US" sz="1400" dirty="0"/>
          </a:p>
          <a:p>
            <a:pPr marL="342900" indent="-342900">
              <a:spcAft>
                <a:spcPts val="800"/>
              </a:spcAft>
              <a:buSzPct val="100000"/>
              <a:buChar char="■"/>
            </a:pPr>
            <a:r>
              <a:rPr lang="en-US" sz="1400" dirty="0">
                <a:solidFill>
                  <a:srgbClr val="3A3F5C"/>
                </a:solidFill>
                <a:latin typeface="Calibri" pitchFamily="34" charset="0"/>
                <a:ea typeface="Calibri" pitchFamily="34" charset="-122"/>
                <a:cs typeface="Calibri" pitchFamily="34" charset="-120"/>
              </a:rPr>
              <a:t>Modern, competitive mobile experience for younger account holders.</a:t>
            </a:r>
            <a:endParaRPr lang="en-US" sz="1400" dirty="0"/>
          </a:p>
          <a:p>
            <a:pPr marL="342900" indent="-342900">
              <a:spcAft>
                <a:spcPts val="800"/>
              </a:spcAft>
              <a:buSzPct val="100000"/>
              <a:buChar char="■"/>
            </a:pPr>
            <a:r>
              <a:rPr lang="en-US" sz="1400" dirty="0">
                <a:solidFill>
                  <a:srgbClr val="3A3F5C"/>
                </a:solidFill>
                <a:latin typeface="Calibri" pitchFamily="34" charset="0"/>
                <a:ea typeface="Calibri" pitchFamily="34" charset="-122"/>
                <a:cs typeface="Calibri" pitchFamily="34" charset="-120"/>
              </a:rPr>
              <a:t>Scalable foundation for future banking products.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TECHNOLOGY DIVISION</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Organizational Structure</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8 / 29</a:t>
            </a:r>
            <a:endParaRPr lang="en-US" sz="1000" dirty="0"/>
          </a:p>
        </p:txBody>
      </p:sp>
      <p:sp>
        <p:nvSpPr>
          <p:cNvPr id="9" name="Shape 7"/>
          <p:cNvSpPr/>
          <p:nvPr/>
        </p:nvSpPr>
        <p:spPr>
          <a:xfrm>
            <a:off x="5029200" y="1737360"/>
            <a:ext cx="2286000" cy="548640"/>
          </a:xfrm>
          <a:prstGeom prst="roundRect">
            <a:avLst>
              <a:gd name="adj" fmla="val 13333"/>
            </a:avLst>
          </a:prstGeom>
          <a:solidFill>
            <a:srgbClr val="1E2761"/>
          </a:solidFill>
          <a:ln w="12700">
            <a:solidFill>
              <a:srgbClr val="1E2761"/>
            </a:solidFill>
            <a:prstDash val="solid"/>
          </a:ln>
        </p:spPr>
      </p:sp>
      <p:sp>
        <p:nvSpPr>
          <p:cNvPr id="10" name="Text 8"/>
          <p:cNvSpPr/>
          <p:nvPr/>
        </p:nvSpPr>
        <p:spPr>
          <a:xfrm>
            <a:off x="5029200" y="1737360"/>
            <a:ext cx="2286000" cy="5486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CIO</a:t>
            </a:r>
            <a:endParaRPr lang="en-US" sz="1200" dirty="0"/>
          </a:p>
        </p:txBody>
      </p:sp>
      <p:sp>
        <p:nvSpPr>
          <p:cNvPr id="11" name="Shape 9"/>
          <p:cNvSpPr/>
          <p:nvPr/>
        </p:nvSpPr>
        <p:spPr>
          <a:xfrm>
            <a:off x="5029200" y="2468880"/>
            <a:ext cx="2286000" cy="548640"/>
          </a:xfrm>
          <a:prstGeom prst="roundRect">
            <a:avLst>
              <a:gd name="adj" fmla="val 13333"/>
            </a:avLst>
          </a:prstGeom>
          <a:solidFill>
            <a:srgbClr val="1E2761"/>
          </a:solidFill>
          <a:ln w="12700">
            <a:solidFill>
              <a:srgbClr val="1E2761"/>
            </a:solidFill>
            <a:prstDash val="solid"/>
          </a:ln>
        </p:spPr>
      </p:sp>
      <p:sp>
        <p:nvSpPr>
          <p:cNvPr id="12" name="Text 10"/>
          <p:cNvSpPr/>
          <p:nvPr/>
        </p:nvSpPr>
        <p:spPr>
          <a:xfrm>
            <a:off x="5029200" y="2468880"/>
            <a:ext cx="2286000" cy="5486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IT Director — Digital Banking</a:t>
            </a:r>
            <a:endParaRPr lang="en-US" sz="1200" dirty="0"/>
          </a:p>
        </p:txBody>
      </p:sp>
      <p:sp>
        <p:nvSpPr>
          <p:cNvPr id="13" name="Shape 11"/>
          <p:cNvSpPr/>
          <p:nvPr/>
        </p:nvSpPr>
        <p:spPr>
          <a:xfrm>
            <a:off x="1371600" y="3291840"/>
            <a:ext cx="2743200" cy="548640"/>
          </a:xfrm>
          <a:prstGeom prst="roundRect">
            <a:avLst>
              <a:gd name="adj" fmla="val 13333"/>
            </a:avLst>
          </a:prstGeom>
          <a:solidFill>
            <a:srgbClr val="1E2761"/>
          </a:solidFill>
          <a:ln w="12700">
            <a:solidFill>
              <a:srgbClr val="1E2761"/>
            </a:solidFill>
            <a:prstDash val="solid"/>
          </a:ln>
        </p:spPr>
      </p:sp>
      <p:sp>
        <p:nvSpPr>
          <p:cNvPr id="14" name="Text 12"/>
          <p:cNvSpPr/>
          <p:nvPr/>
        </p:nvSpPr>
        <p:spPr>
          <a:xfrm>
            <a:off x="1371600" y="3291840"/>
            <a:ext cx="2743200" cy="5486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Engineering Manager</a:t>
            </a:r>
            <a:endParaRPr lang="en-US" sz="1200" dirty="0"/>
          </a:p>
        </p:txBody>
      </p:sp>
      <p:sp>
        <p:nvSpPr>
          <p:cNvPr id="15" name="Shape 13"/>
          <p:cNvSpPr/>
          <p:nvPr/>
        </p:nvSpPr>
        <p:spPr>
          <a:xfrm>
            <a:off x="4754880" y="3291840"/>
            <a:ext cx="2743200" cy="548640"/>
          </a:xfrm>
          <a:prstGeom prst="roundRect">
            <a:avLst>
              <a:gd name="adj" fmla="val 13333"/>
            </a:avLst>
          </a:prstGeom>
          <a:solidFill>
            <a:srgbClr val="1E2761"/>
          </a:solidFill>
          <a:ln w="12700">
            <a:solidFill>
              <a:srgbClr val="1E2761"/>
            </a:solidFill>
            <a:prstDash val="solid"/>
          </a:ln>
        </p:spPr>
      </p:sp>
      <p:sp>
        <p:nvSpPr>
          <p:cNvPr id="16" name="Text 14"/>
          <p:cNvSpPr/>
          <p:nvPr/>
        </p:nvSpPr>
        <p:spPr>
          <a:xfrm>
            <a:off x="4754880" y="3291840"/>
            <a:ext cx="2743200" cy="5486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 Manager</a:t>
            </a:r>
            <a:endParaRPr lang="en-US" sz="1200" dirty="0"/>
          </a:p>
        </p:txBody>
      </p:sp>
      <p:sp>
        <p:nvSpPr>
          <p:cNvPr id="17" name="Shape 15"/>
          <p:cNvSpPr/>
          <p:nvPr/>
        </p:nvSpPr>
        <p:spPr>
          <a:xfrm>
            <a:off x="8138160" y="3291840"/>
            <a:ext cx="2926080" cy="548640"/>
          </a:xfrm>
          <a:prstGeom prst="roundRect">
            <a:avLst>
              <a:gd name="adj" fmla="val 13333"/>
            </a:avLst>
          </a:prstGeom>
          <a:solidFill>
            <a:srgbClr val="1E2761"/>
          </a:solidFill>
          <a:ln w="12700">
            <a:solidFill>
              <a:srgbClr val="1E2761"/>
            </a:solidFill>
            <a:prstDash val="solid"/>
          </a:ln>
        </p:spPr>
      </p:sp>
      <p:sp>
        <p:nvSpPr>
          <p:cNvPr id="18" name="Text 16"/>
          <p:cNvSpPr/>
          <p:nvPr/>
        </p:nvSpPr>
        <p:spPr>
          <a:xfrm>
            <a:off x="8138160" y="3291840"/>
            <a:ext cx="2926080" cy="5486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DevOps / Infra Lead</a:t>
            </a:r>
            <a:endParaRPr lang="en-US" sz="1200" dirty="0"/>
          </a:p>
        </p:txBody>
      </p:sp>
      <p:sp>
        <p:nvSpPr>
          <p:cNvPr id="19" name="Shape 17"/>
          <p:cNvSpPr/>
          <p:nvPr/>
        </p:nvSpPr>
        <p:spPr>
          <a:xfrm>
            <a:off x="274320" y="4206240"/>
            <a:ext cx="2743200" cy="548640"/>
          </a:xfrm>
          <a:prstGeom prst="roundRect">
            <a:avLst>
              <a:gd name="adj" fmla="val 13333"/>
            </a:avLst>
          </a:prstGeom>
          <a:solidFill>
            <a:srgbClr val="1E2761"/>
          </a:solidFill>
          <a:ln w="12700">
            <a:solidFill>
              <a:srgbClr val="1E2761"/>
            </a:solidFill>
            <a:prstDash val="solid"/>
          </a:ln>
        </p:spPr>
      </p:sp>
      <p:sp>
        <p:nvSpPr>
          <p:cNvPr id="20" name="Text 18"/>
          <p:cNvSpPr/>
          <p:nvPr/>
        </p:nvSpPr>
        <p:spPr>
          <a:xfrm>
            <a:off x="274320" y="4206240"/>
            <a:ext cx="2743200" cy="5486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Backend Team Lead</a:t>
            </a:r>
            <a:endParaRPr lang="en-US" sz="1200" dirty="0"/>
          </a:p>
        </p:txBody>
      </p:sp>
      <p:sp>
        <p:nvSpPr>
          <p:cNvPr id="21" name="Shape 19"/>
          <p:cNvSpPr/>
          <p:nvPr/>
        </p:nvSpPr>
        <p:spPr>
          <a:xfrm>
            <a:off x="3291840" y="4206240"/>
            <a:ext cx="2743200" cy="548640"/>
          </a:xfrm>
          <a:prstGeom prst="roundRect">
            <a:avLst>
              <a:gd name="adj" fmla="val 13333"/>
            </a:avLst>
          </a:prstGeom>
          <a:solidFill>
            <a:srgbClr val="1E2761"/>
          </a:solidFill>
          <a:ln w="12700">
            <a:solidFill>
              <a:srgbClr val="1E2761"/>
            </a:solidFill>
            <a:prstDash val="solid"/>
          </a:ln>
        </p:spPr>
      </p:sp>
      <p:sp>
        <p:nvSpPr>
          <p:cNvPr id="22" name="Text 20"/>
          <p:cNvSpPr/>
          <p:nvPr/>
        </p:nvSpPr>
        <p:spPr>
          <a:xfrm>
            <a:off x="3291840" y="4206240"/>
            <a:ext cx="2743200" cy="5486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Front-End Team Lead</a:t>
            </a:r>
            <a:endParaRPr lang="en-US" sz="1200" dirty="0"/>
          </a:p>
        </p:txBody>
      </p:sp>
      <p:sp>
        <p:nvSpPr>
          <p:cNvPr id="23" name="Shape 21"/>
          <p:cNvSpPr/>
          <p:nvPr/>
        </p:nvSpPr>
        <p:spPr>
          <a:xfrm>
            <a:off x="1737360" y="5120640"/>
            <a:ext cx="3200400" cy="640080"/>
          </a:xfrm>
          <a:prstGeom prst="roundRect">
            <a:avLst>
              <a:gd name="adj" fmla="val 11429"/>
            </a:avLst>
          </a:prstGeom>
          <a:solidFill>
            <a:srgbClr val="F96167"/>
          </a:solidFill>
          <a:ln w="12700">
            <a:solidFill>
              <a:srgbClr val="1E2761"/>
            </a:solidFill>
            <a:prstDash val="solid"/>
          </a:ln>
        </p:spPr>
      </p:sp>
      <p:sp>
        <p:nvSpPr>
          <p:cNvPr id="24" name="Text 22"/>
          <p:cNvSpPr/>
          <p:nvPr/>
        </p:nvSpPr>
        <p:spPr>
          <a:xfrm>
            <a:off x="1737360" y="5120640"/>
            <a:ext cx="32004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Backend Developer Intern</a:t>
            </a:r>
            <a:endParaRPr lang="en-US" sz="1400" dirty="0"/>
          </a:p>
        </p:txBody>
      </p:sp>
      <p:sp>
        <p:nvSpPr>
          <p:cNvPr id="25" name="Text 23"/>
          <p:cNvSpPr/>
          <p:nvPr/>
        </p:nvSpPr>
        <p:spPr>
          <a:xfrm>
            <a:off x="640080" y="5943600"/>
            <a:ext cx="10972800" cy="457200"/>
          </a:xfrm>
          <a:prstGeom prst="rect">
            <a:avLst/>
          </a:prstGeom>
          <a:noFill/>
          <a:ln/>
        </p:spPr>
        <p:txBody>
          <a:bodyPr wrap="square" rtlCol="0" anchor="ctr"/>
          <a:lstStyle/>
          <a:p>
            <a:pPr algn="ctr" indent="0" marL="0">
              <a:buNone/>
            </a:pPr>
            <a:r>
              <a:rPr lang="en-US" sz="1300" i="1" dirty="0">
                <a:solidFill>
                  <a:srgbClr val="3A3F5C"/>
                </a:solidFill>
                <a:latin typeface="Calibri" pitchFamily="34" charset="0"/>
                <a:ea typeface="Calibri" pitchFamily="34" charset="-122"/>
                <a:cs typeface="Calibri" pitchFamily="34" charset="-120"/>
              </a:rPr>
              <a:t>Backend Intern reports to the Backend Team Lead on the Digital Banking Platform (DBP).</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40080" y="2743200"/>
            <a:ext cx="137160" cy="1371600"/>
          </a:xfrm>
          <a:prstGeom prst="rect">
            <a:avLst/>
          </a:prstGeom>
          <a:solidFill>
            <a:srgbClr val="F96167"/>
          </a:solidFill>
          <a:ln/>
        </p:spPr>
      </p:sp>
      <p:sp>
        <p:nvSpPr>
          <p:cNvPr id="3" name="Text 1"/>
          <p:cNvSpPr/>
          <p:nvPr/>
        </p:nvSpPr>
        <p:spPr>
          <a:xfrm>
            <a:off x="1005840" y="2743200"/>
            <a:ext cx="10058400" cy="457200"/>
          </a:xfrm>
          <a:prstGeom prst="rect">
            <a:avLst/>
          </a:prstGeom>
          <a:noFill/>
          <a:ln/>
        </p:spPr>
        <p:txBody>
          <a:bodyPr wrap="square" rtlCol="0" anchor="ctr"/>
          <a:lstStyle/>
          <a:p>
            <a:pPr indent="0" marL="0">
              <a:buNone/>
            </a:pPr>
            <a:r>
              <a:rPr lang="en-US" sz="1600" b="1" spc="600" kern="0" dirty="0">
                <a:solidFill>
                  <a:srgbClr val="CADCFC"/>
                </a:solidFill>
                <a:latin typeface="Calibri" pitchFamily="34" charset="0"/>
                <a:ea typeface="Calibri" pitchFamily="34" charset="-122"/>
                <a:cs typeface="Calibri" pitchFamily="34" charset="-120"/>
              </a:rPr>
              <a:t>SECTION 2</a:t>
            </a:r>
            <a:endParaRPr lang="en-US" sz="1600" dirty="0"/>
          </a:p>
        </p:txBody>
      </p:sp>
      <p:sp>
        <p:nvSpPr>
          <p:cNvPr id="4" name="Text 2"/>
          <p:cNvSpPr/>
          <p:nvPr/>
        </p:nvSpPr>
        <p:spPr>
          <a:xfrm>
            <a:off x="1005840" y="3200400"/>
            <a:ext cx="10058400" cy="1097280"/>
          </a:xfrm>
          <a:prstGeom prst="rect">
            <a:avLst/>
          </a:prstGeom>
          <a:noFill/>
          <a:ln/>
        </p:spPr>
        <p:txBody>
          <a:bodyPr wrap="square"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Information Security Infrastructure</a:t>
            </a:r>
            <a:endParaRPr lang="en-US" sz="4400" dirty="0"/>
          </a:p>
        </p:txBody>
      </p:sp>
      <p:sp>
        <p:nvSpPr>
          <p:cNvPr id="5" name="Shape 3"/>
          <p:cNvSpPr/>
          <p:nvPr/>
        </p:nvSpPr>
        <p:spPr>
          <a:xfrm>
            <a:off x="0" y="6629400"/>
            <a:ext cx="12188952" cy="228600"/>
          </a:xfrm>
          <a:prstGeom prst="rect">
            <a:avLst/>
          </a:prstGeom>
          <a:solidFill>
            <a:srgbClr val="1E2761"/>
          </a:solidFill>
          <a:ln/>
        </p:spPr>
      </p:sp>
      <p:sp>
        <p:nvSpPr>
          <p:cNvPr id="6" name="Text 4"/>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7" name="Text 5"/>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9 / 29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DEFENSE IN DEPTH</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Network Security &amp; Zoning</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10 / 29</a:t>
            </a:r>
            <a:endParaRPr lang="en-US" sz="1000" dirty="0"/>
          </a:p>
        </p:txBody>
      </p:sp>
      <p:sp>
        <p:nvSpPr>
          <p:cNvPr id="9" name="Text 7"/>
          <p:cNvSpPr/>
          <p:nvPr/>
        </p:nvSpPr>
        <p:spPr>
          <a:xfrm>
            <a:off x="640080" y="1737360"/>
            <a:ext cx="10972800" cy="4663440"/>
          </a:xfrm>
          <a:prstGeom prst="rect">
            <a:avLst/>
          </a:prstGeom>
          <a:noFill/>
          <a:ln/>
        </p:spPr>
        <p:txBody>
          <a:bodyPr wrap="square" rtlCol="0" anchor="t"/>
          <a:lstStyle/>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Separate network zones per tier: Public DMZ, Application Tier, Restricted Data Tier.</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Commercial Web Application Firewalls (WAF) plus network-level ACLs filter inbound traffic.</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TLS encryption for all traffic between clients, API layer, and internal services.</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Sensitive customer data (account numbers, balances, PII) encrypted at rest in the Database Tier.</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Analogy: a locked front door does not mean the vault is unlocked — each layer assumes the previous one may fail.</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Pull-request habit: ask what happens if a check is bypassed elsewhere, and add layered validation where warranted.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SPRING SECURITY &amp; RBAC</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Authentication &amp; Authorization</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11 / 29</a:t>
            </a:r>
            <a:endParaRPr lang="en-US" sz="1000" dirty="0"/>
          </a:p>
        </p:txBody>
      </p:sp>
      <p:sp>
        <p:nvSpPr>
          <p:cNvPr id="9" name="Text 7"/>
          <p:cNvSpPr/>
          <p:nvPr/>
        </p:nvSpPr>
        <p:spPr>
          <a:xfrm>
            <a:off x="640080" y="1737360"/>
            <a:ext cx="10972800" cy="4663440"/>
          </a:xfrm>
          <a:prstGeom prst="rect">
            <a:avLst/>
          </a:prstGeom>
          <a:noFill/>
          <a:ln/>
        </p:spPr>
        <p:txBody>
          <a:bodyPr wrap="square" rtlCol="0" anchor="t"/>
          <a:lstStyle/>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Spring Security framework enforces authentication and authorization across all endpoints.</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Role-Based Access Control (RBAC) for three principal roles: customer, teller, administrator.</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Every endpoint reviewed against every role using a permissions matrix — no ambient trust.</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Passwords stored as salted one-way hashes; plain-text and reversible encryption prohibited.</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Sensitive administrative actions (e.g., transaction reversal) require an elevated role.</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Every privileged action captures acting user, timestamp, and affected account for full traceability.</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REGULATORY ALIGNMENT</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Audit, Logging &amp; Compliance</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12 / 29</a:t>
            </a:r>
            <a:endParaRPr lang="en-US" sz="1000" dirty="0"/>
          </a:p>
        </p:txBody>
      </p:sp>
      <p:sp>
        <p:nvSpPr>
          <p:cNvPr id="9" name="Text 7"/>
          <p:cNvSpPr/>
          <p:nvPr/>
        </p:nvSpPr>
        <p:spPr>
          <a:xfrm>
            <a:off x="640080" y="1737360"/>
            <a:ext cx="10972800" cy="4663440"/>
          </a:xfrm>
          <a:prstGeom prst="rect">
            <a:avLst/>
          </a:prstGeom>
          <a:noFill/>
          <a:ln/>
        </p:spPr>
        <p:txBody>
          <a:bodyPr wrap="square" rtlCol="0" anchor="t"/>
          <a:lstStyle/>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Integrated logging and monitoring correlates application and infrastructure logs to detect anomalies.</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Regular vulnerability scanning and patch cycles across all externally facing systems.</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Program aligned with PCI DSS (cardholder data) and other financial-services regulations.</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Data sensitivity evaluated by combinations of fields — masked account + timestamp + session can still re-identify.</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Audit trail designed to capture a strict, unambiguous sequence of events (not just timestamps).</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Core Java/Spring Boot services owned and operated in-house — full end-to-end responsibility, no vendor escalation.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40080" y="2743200"/>
            <a:ext cx="137160" cy="1371600"/>
          </a:xfrm>
          <a:prstGeom prst="rect">
            <a:avLst/>
          </a:prstGeom>
          <a:solidFill>
            <a:srgbClr val="F96167"/>
          </a:solidFill>
          <a:ln/>
        </p:spPr>
      </p:sp>
      <p:sp>
        <p:nvSpPr>
          <p:cNvPr id="3" name="Text 1"/>
          <p:cNvSpPr/>
          <p:nvPr/>
        </p:nvSpPr>
        <p:spPr>
          <a:xfrm>
            <a:off x="1005840" y="2743200"/>
            <a:ext cx="10058400" cy="457200"/>
          </a:xfrm>
          <a:prstGeom prst="rect">
            <a:avLst/>
          </a:prstGeom>
          <a:noFill/>
          <a:ln/>
        </p:spPr>
        <p:txBody>
          <a:bodyPr wrap="square" rtlCol="0" anchor="ctr"/>
          <a:lstStyle/>
          <a:p>
            <a:pPr indent="0" marL="0">
              <a:buNone/>
            </a:pPr>
            <a:r>
              <a:rPr lang="en-US" sz="1600" b="1" spc="600" kern="0" dirty="0">
                <a:solidFill>
                  <a:srgbClr val="CADCFC"/>
                </a:solidFill>
                <a:latin typeface="Calibri" pitchFamily="34" charset="0"/>
                <a:ea typeface="Calibri" pitchFamily="34" charset="-122"/>
                <a:cs typeface="Calibri" pitchFamily="34" charset="-120"/>
              </a:rPr>
              <a:t>SECTION 3</a:t>
            </a:r>
            <a:endParaRPr lang="en-US" sz="1600" dirty="0"/>
          </a:p>
        </p:txBody>
      </p:sp>
      <p:sp>
        <p:nvSpPr>
          <p:cNvPr id="4" name="Text 2"/>
          <p:cNvSpPr/>
          <p:nvPr/>
        </p:nvSpPr>
        <p:spPr>
          <a:xfrm>
            <a:off x="1005840" y="3200400"/>
            <a:ext cx="10058400" cy="1097280"/>
          </a:xfrm>
          <a:prstGeom prst="rect">
            <a:avLst/>
          </a:prstGeom>
          <a:noFill/>
          <a:ln/>
        </p:spPr>
        <p:txBody>
          <a:bodyPr wrap="square"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Detailed Description of My Work</a:t>
            </a:r>
            <a:endParaRPr lang="en-US" sz="4400" dirty="0"/>
          </a:p>
        </p:txBody>
      </p:sp>
      <p:sp>
        <p:nvSpPr>
          <p:cNvPr id="5" name="Shape 3"/>
          <p:cNvSpPr/>
          <p:nvPr/>
        </p:nvSpPr>
        <p:spPr>
          <a:xfrm>
            <a:off x="0" y="6629400"/>
            <a:ext cx="12188952" cy="228600"/>
          </a:xfrm>
          <a:prstGeom prst="rect">
            <a:avLst/>
          </a:prstGeom>
          <a:solidFill>
            <a:srgbClr val="1E2761"/>
          </a:solidFill>
          <a:ln/>
        </p:spPr>
      </p:sp>
      <p:sp>
        <p:nvSpPr>
          <p:cNvPr id="6" name="Text 4"/>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7" name="Text 5"/>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13 / 29</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THREE PHASES · 20 SPRINTS</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Internship Schedule Overview</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14 / 29</a:t>
            </a:r>
            <a:endParaRPr lang="en-US" sz="1000" dirty="0"/>
          </a:p>
        </p:txBody>
      </p:sp>
      <p:sp>
        <p:nvSpPr>
          <p:cNvPr id="9" name="Shape 7"/>
          <p:cNvSpPr/>
          <p:nvPr/>
        </p:nvSpPr>
        <p:spPr>
          <a:xfrm>
            <a:off x="640080" y="1828800"/>
            <a:ext cx="10972800" cy="1371600"/>
          </a:xfrm>
          <a:prstGeom prst="roundRect">
            <a:avLst>
              <a:gd name="adj" fmla="val 6667"/>
            </a:avLst>
          </a:prstGeom>
          <a:solidFill>
            <a:srgbClr val="F5F7FB"/>
          </a:solidFill>
          <a:ln w="12700">
            <a:solidFill>
              <a:srgbClr val="1E2761"/>
            </a:solidFill>
            <a:prstDash val="solid"/>
          </a:ln>
        </p:spPr>
      </p:sp>
      <p:sp>
        <p:nvSpPr>
          <p:cNvPr id="10" name="Shape 8"/>
          <p:cNvSpPr/>
          <p:nvPr/>
        </p:nvSpPr>
        <p:spPr>
          <a:xfrm>
            <a:off x="640080" y="1828800"/>
            <a:ext cx="137160" cy="1371600"/>
          </a:xfrm>
          <a:prstGeom prst="rect">
            <a:avLst/>
          </a:prstGeom>
          <a:solidFill>
            <a:srgbClr val="F96167"/>
          </a:solidFill>
          <a:ln/>
        </p:spPr>
      </p:sp>
      <p:sp>
        <p:nvSpPr>
          <p:cNvPr id="11" name="Text 9"/>
          <p:cNvSpPr/>
          <p:nvPr/>
        </p:nvSpPr>
        <p:spPr>
          <a:xfrm>
            <a:off x="914400" y="1965960"/>
            <a:ext cx="2286000" cy="365760"/>
          </a:xfrm>
          <a:prstGeom prst="rect">
            <a:avLst/>
          </a:prstGeom>
          <a:noFill/>
          <a:ln/>
        </p:spPr>
        <p:txBody>
          <a:bodyPr wrap="square"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Phase 1</a:t>
            </a:r>
            <a:endParaRPr lang="en-US" sz="1800" dirty="0"/>
          </a:p>
        </p:txBody>
      </p:sp>
      <p:sp>
        <p:nvSpPr>
          <p:cNvPr id="12" name="Text 10"/>
          <p:cNvSpPr/>
          <p:nvPr/>
        </p:nvSpPr>
        <p:spPr>
          <a:xfrm>
            <a:off x="3200400" y="1965960"/>
            <a:ext cx="7680960" cy="365760"/>
          </a:xfrm>
          <a:prstGeom prst="rect">
            <a:avLst/>
          </a:prstGeom>
          <a:noFill/>
          <a:ln/>
        </p:spPr>
        <p:txBody>
          <a:bodyPr wrap="square"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Sep 01, 2025 – Dec 12, 2025</a:t>
            </a:r>
            <a:endParaRPr lang="en-US" sz="1300" dirty="0"/>
          </a:p>
        </p:txBody>
      </p:sp>
      <p:sp>
        <p:nvSpPr>
          <p:cNvPr id="13" name="Text 11"/>
          <p:cNvSpPr/>
          <p:nvPr/>
        </p:nvSpPr>
        <p:spPr>
          <a:xfrm>
            <a:off x="914400" y="2377440"/>
            <a:ext cx="9966960" cy="777240"/>
          </a:xfrm>
          <a:prstGeom prst="rect">
            <a:avLst/>
          </a:prstGeom>
          <a:noFill/>
          <a:ln/>
        </p:spPr>
        <p:txBody>
          <a:bodyPr wrap="square" rtlCol="0" anchor="t"/>
          <a:lstStyle/>
          <a:p>
            <a:pPr indent="0" marL="0">
              <a:buNone/>
            </a:pPr>
            <a:r>
              <a:rPr lang="en-US" sz="1300" dirty="0">
                <a:solidFill>
                  <a:srgbClr val="3A3F5C"/>
                </a:solidFill>
                <a:latin typeface="Calibri" pitchFamily="34" charset="0"/>
                <a:ea typeface="Calibri" pitchFamily="34" charset="-122"/>
                <a:cs typeface="Calibri" pitchFamily="34" charset="-120"/>
              </a:rPr>
              <a:t>Foundations: onboarding, schema design, customer, account, card, and fund-transfer modules.</a:t>
            </a:r>
            <a:endParaRPr lang="en-US" sz="1300" dirty="0"/>
          </a:p>
        </p:txBody>
      </p:sp>
      <p:sp>
        <p:nvSpPr>
          <p:cNvPr id="14" name="Shape 12"/>
          <p:cNvSpPr/>
          <p:nvPr/>
        </p:nvSpPr>
        <p:spPr>
          <a:xfrm>
            <a:off x="640080" y="3383280"/>
            <a:ext cx="10972800" cy="1371600"/>
          </a:xfrm>
          <a:prstGeom prst="roundRect">
            <a:avLst>
              <a:gd name="adj" fmla="val 6667"/>
            </a:avLst>
          </a:prstGeom>
          <a:solidFill>
            <a:srgbClr val="F5F7FB"/>
          </a:solidFill>
          <a:ln w="12700">
            <a:solidFill>
              <a:srgbClr val="1E2761"/>
            </a:solidFill>
            <a:prstDash val="solid"/>
          </a:ln>
        </p:spPr>
      </p:sp>
      <p:sp>
        <p:nvSpPr>
          <p:cNvPr id="15" name="Shape 13"/>
          <p:cNvSpPr/>
          <p:nvPr/>
        </p:nvSpPr>
        <p:spPr>
          <a:xfrm>
            <a:off x="640080" y="3383280"/>
            <a:ext cx="137160" cy="1371600"/>
          </a:xfrm>
          <a:prstGeom prst="rect">
            <a:avLst/>
          </a:prstGeom>
          <a:solidFill>
            <a:srgbClr val="F96167"/>
          </a:solidFill>
          <a:ln/>
        </p:spPr>
      </p:sp>
      <p:sp>
        <p:nvSpPr>
          <p:cNvPr id="16" name="Text 14"/>
          <p:cNvSpPr/>
          <p:nvPr/>
        </p:nvSpPr>
        <p:spPr>
          <a:xfrm>
            <a:off x="914400" y="3520440"/>
            <a:ext cx="2286000" cy="365760"/>
          </a:xfrm>
          <a:prstGeom prst="rect">
            <a:avLst/>
          </a:prstGeom>
          <a:noFill/>
          <a:ln/>
        </p:spPr>
        <p:txBody>
          <a:bodyPr wrap="square"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Phase 2</a:t>
            </a:r>
            <a:endParaRPr lang="en-US" sz="1800" dirty="0"/>
          </a:p>
        </p:txBody>
      </p:sp>
      <p:sp>
        <p:nvSpPr>
          <p:cNvPr id="17" name="Text 15"/>
          <p:cNvSpPr/>
          <p:nvPr/>
        </p:nvSpPr>
        <p:spPr>
          <a:xfrm>
            <a:off x="3200400" y="3520440"/>
            <a:ext cx="7680960" cy="365760"/>
          </a:xfrm>
          <a:prstGeom prst="rect">
            <a:avLst/>
          </a:prstGeom>
          <a:noFill/>
          <a:ln/>
        </p:spPr>
        <p:txBody>
          <a:bodyPr wrap="square"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Jan 14, 2026 – Apr 24, 2026</a:t>
            </a:r>
            <a:endParaRPr lang="en-US" sz="1300" dirty="0"/>
          </a:p>
        </p:txBody>
      </p:sp>
      <p:sp>
        <p:nvSpPr>
          <p:cNvPr id="18" name="Text 16"/>
          <p:cNvSpPr/>
          <p:nvPr/>
        </p:nvSpPr>
        <p:spPr>
          <a:xfrm>
            <a:off x="914400" y="3931920"/>
            <a:ext cx="9966960" cy="777240"/>
          </a:xfrm>
          <a:prstGeom prst="rect">
            <a:avLst/>
          </a:prstGeom>
          <a:noFill/>
          <a:ln/>
        </p:spPr>
        <p:txBody>
          <a:bodyPr wrap="square" rtlCol="0" anchor="t"/>
          <a:lstStyle/>
          <a:p>
            <a:pPr indent="0" marL="0">
              <a:buNone/>
            </a:pPr>
            <a:r>
              <a:rPr lang="en-US" sz="1300" dirty="0">
                <a:solidFill>
                  <a:srgbClr val="3A3F5C"/>
                </a:solidFill>
                <a:latin typeface="Calibri" pitchFamily="34" charset="0"/>
                <a:ea typeface="Calibri" pitchFamily="34" charset="-122"/>
                <a:cs typeface="Calibri" pitchFamily="34" charset="-120"/>
              </a:rPr>
              <a:t>Expansion: loans &amp; interest, notifications, reporting, integration, performance &amp; security hardening.</a:t>
            </a:r>
            <a:endParaRPr lang="en-US" sz="1300" dirty="0"/>
          </a:p>
        </p:txBody>
      </p:sp>
      <p:sp>
        <p:nvSpPr>
          <p:cNvPr id="19" name="Shape 17"/>
          <p:cNvSpPr/>
          <p:nvPr/>
        </p:nvSpPr>
        <p:spPr>
          <a:xfrm>
            <a:off x="640080" y="4937760"/>
            <a:ext cx="10972800" cy="1371600"/>
          </a:xfrm>
          <a:prstGeom prst="roundRect">
            <a:avLst>
              <a:gd name="adj" fmla="val 6667"/>
            </a:avLst>
          </a:prstGeom>
          <a:solidFill>
            <a:srgbClr val="F5F7FB"/>
          </a:solidFill>
          <a:ln w="12700">
            <a:solidFill>
              <a:srgbClr val="1E2761"/>
            </a:solidFill>
            <a:prstDash val="solid"/>
          </a:ln>
        </p:spPr>
      </p:sp>
      <p:sp>
        <p:nvSpPr>
          <p:cNvPr id="20" name="Shape 18"/>
          <p:cNvSpPr/>
          <p:nvPr/>
        </p:nvSpPr>
        <p:spPr>
          <a:xfrm>
            <a:off x="640080" y="4937760"/>
            <a:ext cx="137160" cy="1371600"/>
          </a:xfrm>
          <a:prstGeom prst="rect">
            <a:avLst/>
          </a:prstGeom>
          <a:solidFill>
            <a:srgbClr val="F96167"/>
          </a:solidFill>
          <a:ln/>
        </p:spPr>
      </p:sp>
      <p:sp>
        <p:nvSpPr>
          <p:cNvPr id="21" name="Text 19"/>
          <p:cNvSpPr/>
          <p:nvPr/>
        </p:nvSpPr>
        <p:spPr>
          <a:xfrm>
            <a:off x="914400" y="5074920"/>
            <a:ext cx="2286000" cy="365760"/>
          </a:xfrm>
          <a:prstGeom prst="rect">
            <a:avLst/>
          </a:prstGeom>
          <a:noFill/>
          <a:ln/>
        </p:spPr>
        <p:txBody>
          <a:bodyPr wrap="square"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Phase 3</a:t>
            </a:r>
            <a:endParaRPr lang="en-US" sz="1800" dirty="0"/>
          </a:p>
        </p:txBody>
      </p:sp>
      <p:sp>
        <p:nvSpPr>
          <p:cNvPr id="22" name="Text 20"/>
          <p:cNvSpPr/>
          <p:nvPr/>
        </p:nvSpPr>
        <p:spPr>
          <a:xfrm>
            <a:off x="3200400" y="5074920"/>
            <a:ext cx="7680960" cy="365760"/>
          </a:xfrm>
          <a:prstGeom prst="rect">
            <a:avLst/>
          </a:prstGeom>
          <a:noFill/>
          <a:ln/>
        </p:spPr>
        <p:txBody>
          <a:bodyPr wrap="square"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May 13, 2026 – Jul 29, 2026</a:t>
            </a:r>
            <a:endParaRPr lang="en-US" sz="1300" dirty="0"/>
          </a:p>
        </p:txBody>
      </p:sp>
      <p:sp>
        <p:nvSpPr>
          <p:cNvPr id="23" name="Text 21"/>
          <p:cNvSpPr/>
          <p:nvPr/>
        </p:nvSpPr>
        <p:spPr>
          <a:xfrm>
            <a:off x="914400" y="5486400"/>
            <a:ext cx="9966960" cy="777240"/>
          </a:xfrm>
          <a:prstGeom prst="rect">
            <a:avLst/>
          </a:prstGeom>
          <a:noFill/>
          <a:ln/>
        </p:spPr>
        <p:txBody>
          <a:bodyPr wrap="square" rtlCol="0" anchor="t"/>
          <a:lstStyle/>
          <a:p>
            <a:pPr indent="0" marL="0">
              <a:buNone/>
            </a:pPr>
            <a:r>
              <a:rPr lang="en-US" sz="1300" dirty="0">
                <a:solidFill>
                  <a:srgbClr val="3A3F5C"/>
                </a:solidFill>
                <a:latin typeface="Calibri" pitchFamily="34" charset="0"/>
                <a:ea typeface="Calibri" pitchFamily="34" charset="-122"/>
                <a:cs typeface="Calibri" pitchFamily="34" charset="-120"/>
              </a:rPr>
              <a:t>Release &amp; wrap-up: UAT, production deployment, post-release monitoring, refactoring, and knowledge hand-off.</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SEP 01 – DEC 12, 2025</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Phase 1 — Foundations</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15 / 29</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72800" cy="914400"/>
        </p:xfrm>
        <a:graphic>
          <a:graphicData uri="http://schemas.openxmlformats.org/drawingml/2006/table">
            <a:tbl>
              <a:tblPr/>
              <a:tblGrid>
                <a:gridCol w="2743200"/>
                <a:gridCol w="822960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Focus</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Activities</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Onboarding</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IntelliJ, Git, Maven setup; codebase walkthrough; security &amp; compliance training.</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 1 — Schema</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Relational schemas for customers, accounts, transactions, cards, loans.</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 2 — Customer</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Registration &amp; authentication endpoints; role-based access control.</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 3 — Accounts</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Account CRUD, balance look-ups, API contract with the front-end.</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 4 — Cards</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Card entity, issuance, activation/lock endpoints, validation rules.</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Sprints 5–6 — Transfers</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Fund-transfer workflow, transactional balance updates, concurrency safeguards, load testing.</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 7 — Loans</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Loan tracking and automated interest-calculation endpoints; cross-module testing.</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JAN 14 – APR 24, 2026</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Phase 2 — Expansion &amp; Hardening</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16 / 29</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72800" cy="914400"/>
        </p:xfrm>
        <a:graphic>
          <a:graphicData uri="http://schemas.openxmlformats.org/drawingml/2006/table">
            <a:tbl>
              <a:tblPr/>
              <a:tblGrid>
                <a:gridCol w="2743200"/>
                <a:gridCol w="822960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Focus</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Activities</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 8 — Notifications</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Transfer-confirmation and low-balance alert endpoints; integrated with account/transfer services.</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 9 — Reporting</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Reporting-dashboard endpoints, filtering, export options, branch-ops review.</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 10 — Integration</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End-to-end tests across customer, account, transfer, card, and loan modules.</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 11 — Performance</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Profiled slow endpoints; caching for hot account data; DB index &amp; query tuning.</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 12 — Security</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RBAC coverage review; internal pen-test support; input-validation remediation.</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 13 — Mobile API</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Payload adjustments, pagination, lightweight response modes; API versioning.</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 14 — Accessibility</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Technical error messages rewritten to plain-language, customer-facing text.</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MAY 13 – JUL 29, 2026</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Phase 3 — Release &amp; Wrap-Up</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17 / 29</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72800" cy="914400"/>
        </p:xfrm>
        <a:graphic>
          <a:graphicData uri="http://schemas.openxmlformats.org/drawingml/2006/table">
            <a:tbl>
              <a:tblPr/>
              <a:tblGrid>
                <a:gridCol w="2743200"/>
                <a:gridCol w="822960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Focus</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Activities</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 15 — UAT Prep</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UAT test scripts, sample data sets, pre-UAT triage, release notes.</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 16 — UAT Execution</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Supported UAT sessions; resolved defects; obtained stakeholder sign-off.</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 17 — Production</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Deployment via Jenkins CI/CD; monitored post-release performance.</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Post-Release Monitoring</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Tracked logs &amp; metrics; resolved minor data-mapping discrepancies.</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 18 — Tech Debt</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Refactored legacy application-layer code; optimized queries surfaced in production.</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 19 — Backlog</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Delivered deferred backlog features (e.g., advanced reporting filters).</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566928">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Sprint 20 — Hand-off</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200" dirty="0">
                          <a:solidFill>
                            <a:srgbClr val="3A3F5C"/>
                          </a:solidFill>
                          <a:latin typeface="Calibri" pitchFamily="34" charset="0"/>
                          <a:ea typeface="Calibri" pitchFamily="34" charset="-122"/>
                          <a:cs typeface="Calibri" pitchFamily="34" charset="-120"/>
                        </a:rPr>
                        <a:t>Runbooks, wiki updates, codebase walkthroughs, final leadership showcase.</a:t>
                      </a:r>
                      <a:endParaRPr lang="en-US" sz="12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ABOUT THE DBP</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Project Type, Length &amp; My Role</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18 / 29</a:t>
            </a:r>
            <a:endParaRPr lang="en-US" sz="1000" dirty="0"/>
          </a:p>
        </p:txBody>
      </p:sp>
      <p:sp>
        <p:nvSpPr>
          <p:cNvPr id="9" name="Text 7"/>
          <p:cNvSpPr/>
          <p:nvPr/>
        </p:nvSpPr>
        <p:spPr>
          <a:xfrm>
            <a:off x="640080" y="1737360"/>
            <a:ext cx="10972800" cy="4663440"/>
          </a:xfrm>
          <a:prstGeom prst="rect">
            <a:avLst/>
          </a:prstGeom>
          <a:noFill/>
          <a:ln/>
        </p:spPr>
        <p:txBody>
          <a:bodyPr wrap="square" rtlCol="0" anchor="t"/>
          <a:lstStyle/>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One continuous project — the Digital Banking Platform (DBP) — a Java/Spring Boot application.</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Enables customers to view balances, transfer funds, and manage loans without visiting a branch.</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Structured across 20 Agile sprints; each sprint ends with an incremental stakeholder release.</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Team: 1 Technical Lead, 2 Front-End Developers, 1 QA Engineer, plus me as Backend Developer.</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Primary ownership: Account Management, Fund Transfers, and Interest Rate Calculation modules.</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Given latitude to propose implementation approaches — design decisions defended in code review.</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Retrospectives reframed as process questions ('why did the bug pass review?') rather than blame.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WHY DBP MATTERS</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Problem Statement &amp; Cause-Effect</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19 / 29</a:t>
            </a:r>
            <a:endParaRPr lang="en-US" sz="1000" dirty="0"/>
          </a:p>
        </p:txBody>
      </p:sp>
      <p:sp>
        <p:nvSpPr>
          <p:cNvPr id="9" name="Shape 7"/>
          <p:cNvSpPr/>
          <p:nvPr/>
        </p:nvSpPr>
        <p:spPr>
          <a:xfrm>
            <a:off x="640080" y="1737360"/>
            <a:ext cx="10972800" cy="1554480"/>
          </a:xfrm>
          <a:prstGeom prst="roundRect">
            <a:avLst>
              <a:gd name="adj" fmla="val 5882"/>
            </a:avLst>
          </a:prstGeom>
          <a:solidFill>
            <a:srgbClr val="F5F7FB"/>
          </a:solidFill>
          <a:ln w="12700">
            <a:solidFill>
              <a:srgbClr val="1E2761"/>
            </a:solidFill>
            <a:prstDash val="solid"/>
          </a:ln>
        </p:spPr>
      </p:sp>
      <p:sp>
        <p:nvSpPr>
          <p:cNvPr id="10" name="Text 8"/>
          <p:cNvSpPr/>
          <p:nvPr/>
        </p:nvSpPr>
        <p:spPr>
          <a:xfrm>
            <a:off x="822960" y="1828800"/>
            <a:ext cx="2743200" cy="365760"/>
          </a:xfrm>
          <a:prstGeom prst="rect">
            <a:avLst/>
          </a:prstGeom>
          <a:noFill/>
          <a:ln/>
        </p:spPr>
        <p:txBody>
          <a:bodyPr wrap="square" rtlCol="0" anchor="ctr"/>
          <a:lstStyle/>
          <a:p>
            <a:pPr indent="0" marL="0">
              <a:buNone/>
            </a:pPr>
            <a:r>
              <a:rPr lang="en-US" sz="1600" b="1" dirty="0">
                <a:solidFill>
                  <a:srgbClr val="F96167"/>
                </a:solidFill>
                <a:latin typeface="Georgia" pitchFamily="34" charset="0"/>
                <a:ea typeface="Georgia" pitchFamily="34" charset="-122"/>
                <a:cs typeface="Georgia" pitchFamily="34" charset="-120"/>
              </a:rPr>
              <a:t>Problem</a:t>
            </a:r>
            <a:endParaRPr lang="en-US" sz="1600" dirty="0"/>
          </a:p>
        </p:txBody>
      </p:sp>
      <p:sp>
        <p:nvSpPr>
          <p:cNvPr id="11" name="Text 9"/>
          <p:cNvSpPr/>
          <p:nvPr/>
        </p:nvSpPr>
        <p:spPr>
          <a:xfrm>
            <a:off x="822960" y="2194560"/>
            <a:ext cx="10607040" cy="1051560"/>
          </a:xfrm>
          <a:prstGeom prst="rect">
            <a:avLst/>
          </a:prstGeom>
          <a:noFill/>
          <a:ln/>
        </p:spPr>
        <p:txBody>
          <a:bodyPr wrap="square" rtlCol="0" anchor="t"/>
          <a:lstStyle/>
          <a:p>
            <a:pPr indent="0" marL="0">
              <a:buNone/>
            </a:pPr>
            <a:r>
              <a:rPr lang="en-US" sz="1300" dirty="0">
                <a:solidFill>
                  <a:srgbClr val="3A3F5C"/>
                </a:solidFill>
                <a:latin typeface="Calibri" pitchFamily="34" charset="0"/>
                <a:ea typeface="Calibri" pitchFamily="34" charset="-122"/>
                <a:cs typeface="Calibri" pitchFamily="34" charset="-120"/>
              </a:rPr>
              <a:t>Before DBP, account servicing was largely manual — branch visits and back-office reconciliation to confirm balances, process transfers, and apply interest. Result: slow service, inconsistent experience, manual-error risk, and no way to scale with a growing customer base.</a:t>
            </a:r>
            <a:endParaRPr lang="en-US" sz="1300" dirty="0"/>
          </a:p>
        </p:txBody>
      </p:sp>
      <p:sp>
        <p:nvSpPr>
          <p:cNvPr id="12" name="Shape 10"/>
          <p:cNvSpPr/>
          <p:nvPr/>
        </p:nvSpPr>
        <p:spPr>
          <a:xfrm>
            <a:off x="640080" y="3474720"/>
            <a:ext cx="5303520" cy="2926080"/>
          </a:xfrm>
          <a:prstGeom prst="roundRect">
            <a:avLst>
              <a:gd name="adj" fmla="val 3125"/>
            </a:avLst>
          </a:prstGeom>
          <a:solidFill>
            <a:srgbClr val="FFFFFF"/>
          </a:solidFill>
          <a:ln w="12700">
            <a:solidFill>
              <a:srgbClr val="1E2761"/>
            </a:solidFill>
            <a:prstDash val="solid"/>
          </a:ln>
        </p:spPr>
      </p:sp>
      <p:sp>
        <p:nvSpPr>
          <p:cNvPr id="13" name="Text 11"/>
          <p:cNvSpPr/>
          <p:nvPr/>
        </p:nvSpPr>
        <p:spPr>
          <a:xfrm>
            <a:off x="822960" y="3566160"/>
            <a:ext cx="4937760" cy="365760"/>
          </a:xfrm>
          <a:prstGeom prst="rect">
            <a:avLst/>
          </a:prstGeom>
          <a:noFill/>
          <a:ln/>
        </p:spPr>
        <p:txBody>
          <a:bodyPr wrap="square"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Root Cause</a:t>
            </a:r>
            <a:endParaRPr lang="en-US" sz="1600" dirty="0"/>
          </a:p>
        </p:txBody>
      </p:sp>
      <p:sp>
        <p:nvSpPr>
          <p:cNvPr id="14" name="Text 12"/>
          <p:cNvSpPr/>
          <p:nvPr/>
        </p:nvSpPr>
        <p:spPr>
          <a:xfrm>
            <a:off x="822960" y="3931920"/>
            <a:ext cx="4937760" cy="2377440"/>
          </a:xfrm>
          <a:prstGeom prst="rect">
            <a:avLst/>
          </a:prstGeom>
          <a:noFill/>
          <a:ln/>
        </p:spPr>
        <p:txBody>
          <a:bodyPr wrap="square" rtlCol="0" anchor="t"/>
          <a:lstStyle/>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No secure, self-service digital channel.</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Same arithmetic solved by hand in every branch.</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Undocumented shortcuts held by individuals.</a:t>
            </a:r>
            <a:endParaRPr lang="en-US" sz="1300" dirty="0"/>
          </a:p>
        </p:txBody>
      </p:sp>
      <p:sp>
        <p:nvSpPr>
          <p:cNvPr id="15" name="Shape 13"/>
          <p:cNvSpPr/>
          <p:nvPr/>
        </p:nvSpPr>
        <p:spPr>
          <a:xfrm>
            <a:off x="6309360" y="3474720"/>
            <a:ext cx="5303520" cy="2926080"/>
          </a:xfrm>
          <a:prstGeom prst="roundRect">
            <a:avLst>
              <a:gd name="adj" fmla="val 3125"/>
            </a:avLst>
          </a:prstGeom>
          <a:solidFill>
            <a:srgbClr val="FFFFFF"/>
          </a:solidFill>
          <a:ln w="12700">
            <a:solidFill>
              <a:srgbClr val="1E2761"/>
            </a:solidFill>
            <a:prstDash val="solid"/>
          </a:ln>
        </p:spPr>
      </p:sp>
      <p:sp>
        <p:nvSpPr>
          <p:cNvPr id="16" name="Text 14"/>
          <p:cNvSpPr/>
          <p:nvPr/>
        </p:nvSpPr>
        <p:spPr>
          <a:xfrm>
            <a:off x="6492240" y="3566160"/>
            <a:ext cx="4937760" cy="365760"/>
          </a:xfrm>
          <a:prstGeom prst="rect">
            <a:avLst/>
          </a:prstGeom>
          <a:noFill/>
          <a:ln/>
        </p:spPr>
        <p:txBody>
          <a:bodyPr wrap="square"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Effect</a:t>
            </a:r>
            <a:endParaRPr lang="en-US" sz="1600" dirty="0"/>
          </a:p>
        </p:txBody>
      </p:sp>
      <p:sp>
        <p:nvSpPr>
          <p:cNvPr id="17" name="Text 15"/>
          <p:cNvSpPr/>
          <p:nvPr/>
        </p:nvSpPr>
        <p:spPr>
          <a:xfrm>
            <a:off x="6492240" y="3931920"/>
            <a:ext cx="4937760" cy="2377440"/>
          </a:xfrm>
          <a:prstGeom prst="rect">
            <a:avLst/>
          </a:prstGeom>
          <a:noFill/>
          <a:ln/>
        </p:spPr>
        <p:txBody>
          <a:bodyPr wrap="square" rtlCol="0" anchor="t"/>
          <a:lstStyle/>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Every inquiry / transfer consumed staff time.</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Manual-entry risk scaled with transaction volume.</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Competitive disadvantage vs. larger digital banks.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ENGINEERING BOUNDARIES</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Scope, Tasks &amp; Constraints</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20 / 29</a:t>
            </a:r>
            <a:endParaRPr lang="en-US" sz="1000" dirty="0"/>
          </a:p>
        </p:txBody>
      </p:sp>
      <p:sp>
        <p:nvSpPr>
          <p:cNvPr id="9" name="Text 7"/>
          <p:cNvSpPr/>
          <p:nvPr/>
        </p:nvSpPr>
        <p:spPr>
          <a:xfrm>
            <a:off x="640080" y="1737360"/>
            <a:ext cx="5486400" cy="365760"/>
          </a:xfrm>
          <a:prstGeom prst="rect">
            <a:avLst/>
          </a:prstGeom>
          <a:noFill/>
          <a:ln/>
        </p:spPr>
        <p:txBody>
          <a:bodyPr wrap="square"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Scope &amp; Tasks</a:t>
            </a:r>
            <a:endParaRPr lang="en-US" sz="1800" dirty="0"/>
          </a:p>
        </p:txBody>
      </p:sp>
      <p:sp>
        <p:nvSpPr>
          <p:cNvPr id="10" name="Text 8"/>
          <p:cNvSpPr/>
          <p:nvPr/>
        </p:nvSpPr>
        <p:spPr>
          <a:xfrm>
            <a:off x="640080" y="2103120"/>
            <a:ext cx="5486400" cy="4663440"/>
          </a:xfrm>
          <a:prstGeom prst="rect">
            <a:avLst/>
          </a:prstGeom>
          <a:noFill/>
          <a:ln/>
        </p:spPr>
        <p:txBody>
          <a:bodyPr wrap="square" rtlCol="0" anchor="t"/>
          <a:lstStyle/>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Relational tables for customers, accounts, transactions, cards, loans.</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RESTful endpoints with Spring Boot, Spring Data JPA, Spring Security.</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Fund-transfer workflow with transactional guarantees.</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Unit &amp; integration tests with JUnit and Mockito.</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Manual endpoint verification with Postman before hand-off.</a:t>
            </a:r>
            <a:endParaRPr lang="en-US" sz="1300" dirty="0"/>
          </a:p>
        </p:txBody>
      </p:sp>
      <p:sp>
        <p:nvSpPr>
          <p:cNvPr id="11" name="Text 9"/>
          <p:cNvSpPr/>
          <p:nvPr/>
        </p:nvSpPr>
        <p:spPr>
          <a:xfrm>
            <a:off x="6309360" y="1737360"/>
            <a:ext cx="5486400" cy="365760"/>
          </a:xfrm>
          <a:prstGeom prst="rect">
            <a:avLst/>
          </a:prstGeom>
          <a:noFill/>
          <a:ln/>
        </p:spPr>
        <p:txBody>
          <a:bodyPr wrap="square" rtlCol="0" anchor="ctr"/>
          <a:lstStyle/>
          <a:p>
            <a:pPr indent="0" marL="0">
              <a:buNone/>
            </a:pPr>
            <a:r>
              <a:rPr lang="en-US" sz="1800" b="1" dirty="0">
                <a:solidFill>
                  <a:srgbClr val="F96167"/>
                </a:solidFill>
                <a:latin typeface="Georgia" pitchFamily="34" charset="0"/>
                <a:ea typeface="Georgia" pitchFamily="34" charset="-122"/>
                <a:cs typeface="Georgia" pitchFamily="34" charset="-120"/>
              </a:rPr>
              <a:t>Constraints</a:t>
            </a:r>
            <a:endParaRPr lang="en-US" sz="1800" dirty="0"/>
          </a:p>
        </p:txBody>
      </p:sp>
      <p:sp>
        <p:nvSpPr>
          <p:cNvPr id="12" name="Text 10"/>
          <p:cNvSpPr/>
          <p:nvPr/>
        </p:nvSpPr>
        <p:spPr>
          <a:xfrm>
            <a:off x="6309360" y="2103120"/>
            <a:ext cx="5486400" cy="4663440"/>
          </a:xfrm>
          <a:prstGeom prst="rect">
            <a:avLst/>
          </a:prstGeom>
          <a:noFill/>
          <a:ln/>
        </p:spPr>
        <p:txBody>
          <a:bodyPr wrap="square" rtlCol="0" anchor="t"/>
          <a:lstStyle/>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Preserve stable API contract for parallel front-end work.</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Absolute correctness for money movement, even under concurrency.</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Security &amp; auditability for all customer financial data.</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Two-week sprint cadence for planning and delivery.</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Trade-off design: fastest path is not always the most auditable.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LAYERED SPRING BOOT</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Architecture &amp; Tech Stack</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21 / 29</a:t>
            </a:r>
            <a:endParaRPr lang="en-US" sz="1000" dirty="0"/>
          </a:p>
        </p:txBody>
      </p:sp>
      <p:sp>
        <p:nvSpPr>
          <p:cNvPr id="9" name="Shape 7"/>
          <p:cNvSpPr/>
          <p:nvPr/>
        </p:nvSpPr>
        <p:spPr>
          <a:xfrm>
            <a:off x="640080" y="1828800"/>
            <a:ext cx="5943600" cy="640080"/>
          </a:xfrm>
          <a:prstGeom prst="roundRect">
            <a:avLst>
              <a:gd name="adj" fmla="val 11429"/>
            </a:avLst>
          </a:prstGeom>
          <a:solidFill>
            <a:srgbClr val="F96167"/>
          </a:solidFill>
          <a:ln w="12700">
            <a:solidFill>
              <a:srgbClr val="1E2761"/>
            </a:solidFill>
            <a:prstDash val="solid"/>
          </a:ln>
        </p:spPr>
      </p:sp>
      <p:sp>
        <p:nvSpPr>
          <p:cNvPr id="10" name="Text 8"/>
          <p:cNvSpPr/>
          <p:nvPr/>
        </p:nvSpPr>
        <p:spPr>
          <a:xfrm>
            <a:off x="640080" y="1828800"/>
            <a:ext cx="5943600" cy="6400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Client  (Web / Mobile)</a:t>
            </a:r>
            <a:endParaRPr lang="en-US" sz="1500" dirty="0"/>
          </a:p>
        </p:txBody>
      </p:sp>
      <p:sp>
        <p:nvSpPr>
          <p:cNvPr id="11" name="Shape 9"/>
          <p:cNvSpPr/>
          <p:nvPr/>
        </p:nvSpPr>
        <p:spPr>
          <a:xfrm>
            <a:off x="3657600" y="2468880"/>
            <a:ext cx="0" cy="137160"/>
          </a:xfrm>
          <a:prstGeom prst="line">
            <a:avLst/>
          </a:prstGeom>
          <a:noFill/>
          <a:ln w="25400">
            <a:solidFill>
              <a:srgbClr val="1E2761"/>
            </a:solidFill>
            <a:prstDash val="solid"/>
            <a:tailEnd type="triangle"/>
          </a:ln>
        </p:spPr>
      </p:sp>
      <p:sp>
        <p:nvSpPr>
          <p:cNvPr id="12" name="Shape 10"/>
          <p:cNvSpPr/>
          <p:nvPr/>
        </p:nvSpPr>
        <p:spPr>
          <a:xfrm>
            <a:off x="640080" y="2606040"/>
            <a:ext cx="5943600" cy="640080"/>
          </a:xfrm>
          <a:prstGeom prst="roundRect">
            <a:avLst>
              <a:gd name="adj" fmla="val 11429"/>
            </a:avLst>
          </a:prstGeom>
          <a:solidFill>
            <a:srgbClr val="1E2761"/>
          </a:solidFill>
          <a:ln w="12700">
            <a:solidFill>
              <a:srgbClr val="1E2761"/>
            </a:solidFill>
            <a:prstDash val="solid"/>
          </a:ln>
        </p:spPr>
      </p:sp>
      <p:sp>
        <p:nvSpPr>
          <p:cNvPr id="13" name="Text 11"/>
          <p:cNvSpPr/>
          <p:nvPr/>
        </p:nvSpPr>
        <p:spPr>
          <a:xfrm>
            <a:off x="640080" y="2606040"/>
            <a:ext cx="5943600" cy="6400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Controller  (@RestController)</a:t>
            </a:r>
            <a:endParaRPr lang="en-US" sz="1500" dirty="0"/>
          </a:p>
        </p:txBody>
      </p:sp>
      <p:sp>
        <p:nvSpPr>
          <p:cNvPr id="14" name="Shape 12"/>
          <p:cNvSpPr/>
          <p:nvPr/>
        </p:nvSpPr>
        <p:spPr>
          <a:xfrm>
            <a:off x="3657600" y="3246120"/>
            <a:ext cx="0" cy="137160"/>
          </a:xfrm>
          <a:prstGeom prst="line">
            <a:avLst/>
          </a:prstGeom>
          <a:noFill/>
          <a:ln w="25400">
            <a:solidFill>
              <a:srgbClr val="1E2761"/>
            </a:solidFill>
            <a:prstDash val="solid"/>
            <a:tailEnd type="triangle"/>
          </a:ln>
        </p:spPr>
      </p:sp>
      <p:sp>
        <p:nvSpPr>
          <p:cNvPr id="15" name="Shape 13"/>
          <p:cNvSpPr/>
          <p:nvPr/>
        </p:nvSpPr>
        <p:spPr>
          <a:xfrm>
            <a:off x="640080" y="3383280"/>
            <a:ext cx="5943600" cy="640080"/>
          </a:xfrm>
          <a:prstGeom prst="roundRect">
            <a:avLst>
              <a:gd name="adj" fmla="val 11429"/>
            </a:avLst>
          </a:prstGeom>
          <a:solidFill>
            <a:srgbClr val="1E2761"/>
          </a:solidFill>
          <a:ln w="12700">
            <a:solidFill>
              <a:srgbClr val="1E2761"/>
            </a:solidFill>
            <a:prstDash val="solid"/>
          </a:ln>
        </p:spPr>
      </p:sp>
      <p:sp>
        <p:nvSpPr>
          <p:cNvPr id="16" name="Text 14"/>
          <p:cNvSpPr/>
          <p:nvPr/>
        </p:nvSpPr>
        <p:spPr>
          <a:xfrm>
            <a:off x="640080" y="3383280"/>
            <a:ext cx="5943600" cy="6400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Service  (Business Logic)</a:t>
            </a:r>
            <a:endParaRPr lang="en-US" sz="1500" dirty="0"/>
          </a:p>
        </p:txBody>
      </p:sp>
      <p:sp>
        <p:nvSpPr>
          <p:cNvPr id="17" name="Shape 15"/>
          <p:cNvSpPr/>
          <p:nvPr/>
        </p:nvSpPr>
        <p:spPr>
          <a:xfrm>
            <a:off x="3657600" y="4023360"/>
            <a:ext cx="0" cy="137160"/>
          </a:xfrm>
          <a:prstGeom prst="line">
            <a:avLst/>
          </a:prstGeom>
          <a:noFill/>
          <a:ln w="25400">
            <a:solidFill>
              <a:srgbClr val="1E2761"/>
            </a:solidFill>
            <a:prstDash val="solid"/>
            <a:tailEnd type="triangle"/>
          </a:ln>
        </p:spPr>
      </p:sp>
      <p:sp>
        <p:nvSpPr>
          <p:cNvPr id="18" name="Shape 16"/>
          <p:cNvSpPr/>
          <p:nvPr/>
        </p:nvSpPr>
        <p:spPr>
          <a:xfrm>
            <a:off x="640080" y="4160520"/>
            <a:ext cx="5943600" cy="640080"/>
          </a:xfrm>
          <a:prstGeom prst="roundRect">
            <a:avLst>
              <a:gd name="adj" fmla="val 11429"/>
            </a:avLst>
          </a:prstGeom>
          <a:solidFill>
            <a:srgbClr val="1E2761"/>
          </a:solidFill>
          <a:ln w="12700">
            <a:solidFill>
              <a:srgbClr val="1E2761"/>
            </a:solidFill>
            <a:prstDash val="solid"/>
          </a:ln>
        </p:spPr>
      </p:sp>
      <p:sp>
        <p:nvSpPr>
          <p:cNvPr id="19" name="Text 17"/>
          <p:cNvSpPr/>
          <p:nvPr/>
        </p:nvSpPr>
        <p:spPr>
          <a:xfrm>
            <a:off x="640080" y="4160520"/>
            <a:ext cx="5943600" cy="6400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Repository  (Spring Data JPA)</a:t>
            </a:r>
            <a:endParaRPr lang="en-US" sz="1500" dirty="0"/>
          </a:p>
        </p:txBody>
      </p:sp>
      <p:sp>
        <p:nvSpPr>
          <p:cNvPr id="20" name="Shape 18"/>
          <p:cNvSpPr/>
          <p:nvPr/>
        </p:nvSpPr>
        <p:spPr>
          <a:xfrm>
            <a:off x="3657600" y="4800600"/>
            <a:ext cx="0" cy="137160"/>
          </a:xfrm>
          <a:prstGeom prst="line">
            <a:avLst/>
          </a:prstGeom>
          <a:noFill/>
          <a:ln w="25400">
            <a:solidFill>
              <a:srgbClr val="1E2761"/>
            </a:solidFill>
            <a:prstDash val="solid"/>
            <a:tailEnd type="triangle"/>
          </a:ln>
        </p:spPr>
      </p:sp>
      <p:sp>
        <p:nvSpPr>
          <p:cNvPr id="21" name="Shape 19"/>
          <p:cNvSpPr/>
          <p:nvPr/>
        </p:nvSpPr>
        <p:spPr>
          <a:xfrm>
            <a:off x="640080" y="4937760"/>
            <a:ext cx="5943600" cy="640080"/>
          </a:xfrm>
          <a:prstGeom prst="roundRect">
            <a:avLst>
              <a:gd name="adj" fmla="val 11429"/>
            </a:avLst>
          </a:prstGeom>
          <a:solidFill>
            <a:srgbClr val="3A3F5C"/>
          </a:solidFill>
          <a:ln w="12700">
            <a:solidFill>
              <a:srgbClr val="1E2761"/>
            </a:solidFill>
            <a:prstDash val="solid"/>
          </a:ln>
        </p:spPr>
      </p:sp>
      <p:sp>
        <p:nvSpPr>
          <p:cNvPr id="22" name="Text 20"/>
          <p:cNvSpPr/>
          <p:nvPr/>
        </p:nvSpPr>
        <p:spPr>
          <a:xfrm>
            <a:off x="640080" y="4937760"/>
            <a:ext cx="5943600" cy="6400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MySQL Database</a:t>
            </a:r>
            <a:endParaRPr lang="en-US" sz="1500" dirty="0"/>
          </a:p>
        </p:txBody>
      </p:sp>
      <p:sp>
        <p:nvSpPr>
          <p:cNvPr id="23" name="Text 21"/>
          <p:cNvSpPr/>
          <p:nvPr/>
        </p:nvSpPr>
        <p:spPr>
          <a:xfrm>
            <a:off x="6949440" y="1737360"/>
            <a:ext cx="5029200" cy="365760"/>
          </a:xfrm>
          <a:prstGeom prst="rect">
            <a:avLst/>
          </a:prstGeom>
          <a:noFill/>
          <a:ln/>
        </p:spPr>
        <p:txBody>
          <a:bodyPr wrap="square"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Tech Stack</a:t>
            </a:r>
            <a:endParaRPr lang="en-US" sz="1800" dirty="0"/>
          </a:p>
        </p:txBody>
      </p:sp>
      <p:sp>
        <p:nvSpPr>
          <p:cNvPr id="24" name="Text 22"/>
          <p:cNvSpPr/>
          <p:nvPr/>
        </p:nvSpPr>
        <p:spPr>
          <a:xfrm>
            <a:off x="6949440" y="2148840"/>
            <a:ext cx="5029200" cy="4663440"/>
          </a:xfrm>
          <a:prstGeom prst="rect">
            <a:avLst/>
          </a:prstGeom>
          <a:noFill/>
          <a:ln/>
        </p:spPr>
        <p:txBody>
          <a:bodyPr wrap="square" rtlCol="0" anchor="t"/>
          <a:lstStyle/>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Java 17 · Spring Boot · Spring Data JPA · Spring Security</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MySQL 8 (normalized schema, indexes, constraints)</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JUnit 5 · Mockito · Postman</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Maven · Git · Jenkins CI/CD</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IntelliJ IDEA as primary IDE</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Agile / Scrum — 2-week sprints, daily stand-ups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FROM COMMIT TO PRODUCTION</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Deliverables &amp; CI/CD Pipeline</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22 / 29</a:t>
            </a:r>
            <a:endParaRPr lang="en-US" sz="1000" dirty="0"/>
          </a:p>
        </p:txBody>
      </p:sp>
      <p:sp>
        <p:nvSpPr>
          <p:cNvPr id="9" name="Shape 7"/>
          <p:cNvSpPr/>
          <p:nvPr/>
        </p:nvSpPr>
        <p:spPr>
          <a:xfrm>
            <a:off x="548640" y="1828800"/>
            <a:ext cx="1737360" cy="914400"/>
          </a:xfrm>
          <a:prstGeom prst="roundRect">
            <a:avLst>
              <a:gd name="adj" fmla="val 8000"/>
            </a:avLst>
          </a:prstGeom>
          <a:solidFill>
            <a:srgbClr val="1E2761"/>
          </a:solidFill>
          <a:ln w="12700">
            <a:solidFill>
              <a:srgbClr val="1E2761"/>
            </a:solidFill>
            <a:prstDash val="solid"/>
          </a:ln>
        </p:spPr>
      </p:sp>
      <p:sp>
        <p:nvSpPr>
          <p:cNvPr id="10" name="Text 8"/>
          <p:cNvSpPr/>
          <p:nvPr/>
        </p:nvSpPr>
        <p:spPr>
          <a:xfrm>
            <a:off x="548640" y="1828800"/>
            <a:ext cx="17373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Git Commit</a:t>
            </a:r>
            <a:endParaRPr lang="en-US" sz="1200" dirty="0"/>
          </a:p>
        </p:txBody>
      </p:sp>
      <p:sp>
        <p:nvSpPr>
          <p:cNvPr id="11" name="Shape 9"/>
          <p:cNvSpPr/>
          <p:nvPr/>
        </p:nvSpPr>
        <p:spPr>
          <a:xfrm>
            <a:off x="2290572" y="2148840"/>
            <a:ext cx="128016" cy="274320"/>
          </a:xfrm>
          <a:prstGeom prst="rightTriangle">
            <a:avLst/>
          </a:prstGeom>
          <a:solidFill>
            <a:srgbClr val="1E2761"/>
          </a:solidFill>
          <a:ln/>
        </p:spPr>
      </p:sp>
      <p:sp>
        <p:nvSpPr>
          <p:cNvPr id="12" name="Shape 10"/>
          <p:cNvSpPr/>
          <p:nvPr/>
        </p:nvSpPr>
        <p:spPr>
          <a:xfrm>
            <a:off x="2423160" y="1828800"/>
            <a:ext cx="1737360" cy="914400"/>
          </a:xfrm>
          <a:prstGeom prst="roundRect">
            <a:avLst>
              <a:gd name="adj" fmla="val 8000"/>
            </a:avLst>
          </a:prstGeom>
          <a:solidFill>
            <a:srgbClr val="1E2761"/>
          </a:solidFill>
          <a:ln w="12700">
            <a:solidFill>
              <a:srgbClr val="1E2761"/>
            </a:solidFill>
            <a:prstDash val="solid"/>
          </a:ln>
        </p:spPr>
      </p:sp>
      <p:sp>
        <p:nvSpPr>
          <p:cNvPr id="13" name="Text 11"/>
          <p:cNvSpPr/>
          <p:nvPr/>
        </p:nvSpPr>
        <p:spPr>
          <a:xfrm>
            <a:off x="2423160" y="1828800"/>
            <a:ext cx="17373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Maven Build</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 Unit Tests</a:t>
            </a:r>
            <a:endParaRPr lang="en-US" sz="1200" dirty="0"/>
          </a:p>
        </p:txBody>
      </p:sp>
      <p:sp>
        <p:nvSpPr>
          <p:cNvPr id="14" name="Shape 12"/>
          <p:cNvSpPr/>
          <p:nvPr/>
        </p:nvSpPr>
        <p:spPr>
          <a:xfrm>
            <a:off x="4165092" y="2148840"/>
            <a:ext cx="128016" cy="274320"/>
          </a:xfrm>
          <a:prstGeom prst="rightTriangle">
            <a:avLst/>
          </a:prstGeom>
          <a:solidFill>
            <a:srgbClr val="1E2761"/>
          </a:solidFill>
          <a:ln/>
        </p:spPr>
      </p:sp>
      <p:sp>
        <p:nvSpPr>
          <p:cNvPr id="15" name="Shape 13"/>
          <p:cNvSpPr/>
          <p:nvPr/>
        </p:nvSpPr>
        <p:spPr>
          <a:xfrm>
            <a:off x="4297680" y="1828800"/>
            <a:ext cx="1737360" cy="914400"/>
          </a:xfrm>
          <a:prstGeom prst="roundRect">
            <a:avLst>
              <a:gd name="adj" fmla="val 8000"/>
            </a:avLst>
          </a:prstGeom>
          <a:solidFill>
            <a:srgbClr val="1E2761"/>
          </a:solidFill>
          <a:ln w="12700">
            <a:solidFill>
              <a:srgbClr val="1E2761"/>
            </a:solidFill>
            <a:prstDash val="solid"/>
          </a:ln>
        </p:spPr>
      </p:sp>
      <p:sp>
        <p:nvSpPr>
          <p:cNvPr id="16" name="Text 14"/>
          <p:cNvSpPr/>
          <p:nvPr/>
        </p:nvSpPr>
        <p:spPr>
          <a:xfrm>
            <a:off x="4297680" y="1828800"/>
            <a:ext cx="17373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Dev</a:t>
            </a:r>
            <a:endParaRPr lang="en-US" sz="1200" dirty="0"/>
          </a:p>
        </p:txBody>
      </p:sp>
      <p:sp>
        <p:nvSpPr>
          <p:cNvPr id="17" name="Shape 15"/>
          <p:cNvSpPr/>
          <p:nvPr/>
        </p:nvSpPr>
        <p:spPr>
          <a:xfrm>
            <a:off x="6039612" y="2148840"/>
            <a:ext cx="128016" cy="274320"/>
          </a:xfrm>
          <a:prstGeom prst="rightTriangle">
            <a:avLst/>
          </a:prstGeom>
          <a:solidFill>
            <a:srgbClr val="1E2761"/>
          </a:solidFill>
          <a:ln/>
        </p:spPr>
      </p:sp>
      <p:sp>
        <p:nvSpPr>
          <p:cNvPr id="18" name="Shape 16"/>
          <p:cNvSpPr/>
          <p:nvPr/>
        </p:nvSpPr>
        <p:spPr>
          <a:xfrm>
            <a:off x="6172200" y="1828800"/>
            <a:ext cx="1737360" cy="914400"/>
          </a:xfrm>
          <a:prstGeom prst="roundRect">
            <a:avLst>
              <a:gd name="adj" fmla="val 8000"/>
            </a:avLst>
          </a:prstGeom>
          <a:solidFill>
            <a:srgbClr val="1E2761"/>
          </a:solidFill>
          <a:ln w="12700">
            <a:solidFill>
              <a:srgbClr val="1E2761"/>
            </a:solidFill>
            <a:prstDash val="solid"/>
          </a:ln>
        </p:spPr>
      </p:sp>
      <p:sp>
        <p:nvSpPr>
          <p:cNvPr id="19" name="Text 17"/>
          <p:cNvSpPr/>
          <p:nvPr/>
        </p:nvSpPr>
        <p:spPr>
          <a:xfrm>
            <a:off x="6172200" y="1828800"/>
            <a:ext cx="17373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SIT</a:t>
            </a:r>
            <a:endParaRPr lang="en-US" sz="1200" dirty="0"/>
          </a:p>
        </p:txBody>
      </p:sp>
      <p:sp>
        <p:nvSpPr>
          <p:cNvPr id="20" name="Shape 18"/>
          <p:cNvSpPr/>
          <p:nvPr/>
        </p:nvSpPr>
        <p:spPr>
          <a:xfrm>
            <a:off x="7914132" y="2148840"/>
            <a:ext cx="128016" cy="274320"/>
          </a:xfrm>
          <a:prstGeom prst="rightTriangle">
            <a:avLst/>
          </a:prstGeom>
          <a:solidFill>
            <a:srgbClr val="1E2761"/>
          </a:solidFill>
          <a:ln/>
        </p:spPr>
      </p:sp>
      <p:sp>
        <p:nvSpPr>
          <p:cNvPr id="21" name="Shape 19"/>
          <p:cNvSpPr/>
          <p:nvPr/>
        </p:nvSpPr>
        <p:spPr>
          <a:xfrm>
            <a:off x="8046720" y="1828800"/>
            <a:ext cx="1737360" cy="914400"/>
          </a:xfrm>
          <a:prstGeom prst="roundRect">
            <a:avLst>
              <a:gd name="adj" fmla="val 8000"/>
            </a:avLst>
          </a:prstGeom>
          <a:solidFill>
            <a:srgbClr val="1E2761"/>
          </a:solidFill>
          <a:ln w="12700">
            <a:solidFill>
              <a:srgbClr val="1E2761"/>
            </a:solidFill>
            <a:prstDash val="solid"/>
          </a:ln>
        </p:spPr>
      </p:sp>
      <p:sp>
        <p:nvSpPr>
          <p:cNvPr id="22" name="Text 20"/>
          <p:cNvSpPr/>
          <p:nvPr/>
        </p:nvSpPr>
        <p:spPr>
          <a:xfrm>
            <a:off x="8046720" y="1828800"/>
            <a:ext cx="17373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UAT</a:t>
            </a:r>
            <a:endParaRPr lang="en-US" sz="1200" dirty="0"/>
          </a:p>
        </p:txBody>
      </p:sp>
      <p:sp>
        <p:nvSpPr>
          <p:cNvPr id="23" name="Shape 21"/>
          <p:cNvSpPr/>
          <p:nvPr/>
        </p:nvSpPr>
        <p:spPr>
          <a:xfrm>
            <a:off x="9788652" y="2148840"/>
            <a:ext cx="128016" cy="274320"/>
          </a:xfrm>
          <a:prstGeom prst="rightTriangle">
            <a:avLst/>
          </a:prstGeom>
          <a:solidFill>
            <a:srgbClr val="1E2761"/>
          </a:solidFill>
          <a:ln/>
        </p:spPr>
      </p:sp>
      <p:sp>
        <p:nvSpPr>
          <p:cNvPr id="24" name="Shape 22"/>
          <p:cNvSpPr/>
          <p:nvPr/>
        </p:nvSpPr>
        <p:spPr>
          <a:xfrm>
            <a:off x="9921240" y="1828800"/>
            <a:ext cx="1737360" cy="914400"/>
          </a:xfrm>
          <a:prstGeom prst="roundRect">
            <a:avLst>
              <a:gd name="adj" fmla="val 8000"/>
            </a:avLst>
          </a:prstGeom>
          <a:solidFill>
            <a:srgbClr val="F96167"/>
          </a:solidFill>
          <a:ln w="12700">
            <a:solidFill>
              <a:srgbClr val="1E2761"/>
            </a:solidFill>
            <a:prstDash val="solid"/>
          </a:ln>
        </p:spPr>
      </p:sp>
      <p:sp>
        <p:nvSpPr>
          <p:cNvPr id="25" name="Text 23"/>
          <p:cNvSpPr/>
          <p:nvPr/>
        </p:nvSpPr>
        <p:spPr>
          <a:xfrm>
            <a:off x="9921240" y="1828800"/>
            <a:ext cx="17373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Production</a:t>
            </a:r>
            <a:endParaRPr lang="en-US" sz="1200" dirty="0"/>
          </a:p>
        </p:txBody>
      </p:sp>
      <p:sp>
        <p:nvSpPr>
          <p:cNvPr id="26" name="Text 24"/>
          <p:cNvSpPr/>
          <p:nvPr/>
        </p:nvSpPr>
        <p:spPr>
          <a:xfrm>
            <a:off x="640080" y="3108960"/>
            <a:ext cx="10972800" cy="365760"/>
          </a:xfrm>
          <a:prstGeom prst="rect">
            <a:avLst/>
          </a:prstGeom>
          <a:noFill/>
          <a:ln/>
        </p:spPr>
        <p:txBody>
          <a:bodyPr wrap="square"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Deliverables</a:t>
            </a:r>
            <a:endParaRPr lang="en-US" sz="1800" dirty="0"/>
          </a:p>
        </p:txBody>
      </p:sp>
      <p:sp>
        <p:nvSpPr>
          <p:cNvPr id="27" name="Text 25"/>
          <p:cNvSpPr/>
          <p:nvPr/>
        </p:nvSpPr>
        <p:spPr>
          <a:xfrm>
            <a:off x="640080" y="3520440"/>
            <a:ext cx="11155680" cy="4663440"/>
          </a:xfrm>
          <a:prstGeom prst="rect">
            <a:avLst/>
          </a:prstGeom>
          <a:noFill/>
          <a:ln/>
        </p:spPr>
        <p:txBody>
          <a:bodyPr wrap="square" rtlCol="0" anchor="t"/>
          <a:lstStyle/>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Operationally complete, tested backend exposing REST APIs across the DBP.</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Customer registration &amp; authentication; account create / update / close / balance look-up.</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Fund transfer &amp; withdrawal processing with transactional integrity.</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Automated interest calculation with a complete, replayable audit history per posting.</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Normalized MySQL schema with unit &amp; integration test coverage.</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Automated promotion through Dev → SIT → UAT → Production; failed builds blocked from advancing.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40080" y="2743200"/>
            <a:ext cx="137160" cy="1371600"/>
          </a:xfrm>
          <a:prstGeom prst="rect">
            <a:avLst/>
          </a:prstGeom>
          <a:solidFill>
            <a:srgbClr val="F96167"/>
          </a:solidFill>
          <a:ln/>
        </p:spPr>
      </p:sp>
      <p:sp>
        <p:nvSpPr>
          <p:cNvPr id="3" name="Text 1"/>
          <p:cNvSpPr/>
          <p:nvPr/>
        </p:nvSpPr>
        <p:spPr>
          <a:xfrm>
            <a:off x="1005840" y="2743200"/>
            <a:ext cx="10058400" cy="457200"/>
          </a:xfrm>
          <a:prstGeom prst="rect">
            <a:avLst/>
          </a:prstGeom>
          <a:noFill/>
          <a:ln/>
        </p:spPr>
        <p:txBody>
          <a:bodyPr wrap="square" rtlCol="0" anchor="ctr"/>
          <a:lstStyle/>
          <a:p>
            <a:pPr indent="0" marL="0">
              <a:buNone/>
            </a:pPr>
            <a:r>
              <a:rPr lang="en-US" sz="1600" b="1" spc="600" kern="0" dirty="0">
                <a:solidFill>
                  <a:srgbClr val="CADCFC"/>
                </a:solidFill>
                <a:latin typeface="Calibri" pitchFamily="34" charset="0"/>
                <a:ea typeface="Calibri" pitchFamily="34" charset="-122"/>
                <a:cs typeface="Calibri" pitchFamily="34" charset="-120"/>
              </a:rPr>
              <a:t>SECTION 4</a:t>
            </a:r>
            <a:endParaRPr lang="en-US" sz="1600" dirty="0"/>
          </a:p>
        </p:txBody>
      </p:sp>
      <p:sp>
        <p:nvSpPr>
          <p:cNvPr id="4" name="Text 2"/>
          <p:cNvSpPr/>
          <p:nvPr/>
        </p:nvSpPr>
        <p:spPr>
          <a:xfrm>
            <a:off x="1005840" y="3200400"/>
            <a:ext cx="10058400" cy="1097280"/>
          </a:xfrm>
          <a:prstGeom prst="rect">
            <a:avLst/>
          </a:prstGeom>
          <a:noFill/>
          <a:ln/>
        </p:spPr>
        <p:txBody>
          <a:bodyPr wrap="square"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Courses That Helped</a:t>
            </a:r>
            <a:endParaRPr lang="en-US" sz="4400" dirty="0"/>
          </a:p>
        </p:txBody>
      </p:sp>
      <p:sp>
        <p:nvSpPr>
          <p:cNvPr id="5" name="Shape 3"/>
          <p:cNvSpPr/>
          <p:nvPr/>
        </p:nvSpPr>
        <p:spPr>
          <a:xfrm>
            <a:off x="0" y="6629400"/>
            <a:ext cx="12188952" cy="228600"/>
          </a:xfrm>
          <a:prstGeom prst="rect">
            <a:avLst/>
          </a:prstGeom>
          <a:solidFill>
            <a:srgbClr val="1E2761"/>
          </a:solidFill>
          <a:ln/>
        </p:spPr>
      </p:sp>
      <p:sp>
        <p:nvSpPr>
          <p:cNvPr id="6" name="Text 4"/>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7" name="Text 5"/>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23 / 29</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ACADEMIC FOUNDATIONS</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IA 643 &amp; IA 559</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24 / 29</a:t>
            </a:r>
            <a:endParaRPr lang="en-US" sz="1000" dirty="0"/>
          </a:p>
        </p:txBody>
      </p:sp>
      <p:sp>
        <p:nvSpPr>
          <p:cNvPr id="9" name="Shape 7"/>
          <p:cNvSpPr/>
          <p:nvPr/>
        </p:nvSpPr>
        <p:spPr>
          <a:xfrm>
            <a:off x="640080" y="1737360"/>
            <a:ext cx="5486400" cy="4663440"/>
          </a:xfrm>
          <a:prstGeom prst="roundRect">
            <a:avLst>
              <a:gd name="adj" fmla="val 1961"/>
            </a:avLst>
          </a:prstGeom>
          <a:solidFill>
            <a:srgbClr val="F5F7FB"/>
          </a:solidFill>
          <a:ln w="12700">
            <a:solidFill>
              <a:srgbClr val="1E2761"/>
            </a:solidFill>
            <a:prstDash val="solid"/>
          </a:ln>
        </p:spPr>
      </p:sp>
      <p:sp>
        <p:nvSpPr>
          <p:cNvPr id="10" name="Text 8"/>
          <p:cNvSpPr/>
          <p:nvPr/>
        </p:nvSpPr>
        <p:spPr>
          <a:xfrm>
            <a:off x="822960" y="1828800"/>
            <a:ext cx="5120640" cy="320040"/>
          </a:xfrm>
          <a:prstGeom prst="rect">
            <a:avLst/>
          </a:prstGeom>
          <a:noFill/>
          <a:ln/>
        </p:spPr>
        <p:txBody>
          <a:bodyPr wrap="square" rtlCol="0" anchor="ctr"/>
          <a:lstStyle/>
          <a:p>
            <a:pPr indent="0" marL="0">
              <a:buNone/>
            </a:pPr>
            <a:r>
              <a:rPr lang="en-US" sz="1300" b="1" spc="300" kern="0" dirty="0">
                <a:solidFill>
                  <a:srgbClr val="F96167"/>
                </a:solidFill>
                <a:latin typeface="Calibri" pitchFamily="34" charset="0"/>
                <a:ea typeface="Calibri" pitchFamily="34" charset="-122"/>
                <a:cs typeface="Calibri" pitchFamily="34" charset="-120"/>
              </a:rPr>
              <a:t>IA 643</a:t>
            </a:r>
            <a:endParaRPr lang="en-US" sz="1300" dirty="0"/>
          </a:p>
        </p:txBody>
      </p:sp>
      <p:sp>
        <p:nvSpPr>
          <p:cNvPr id="11" name="Text 9"/>
          <p:cNvSpPr/>
          <p:nvPr/>
        </p:nvSpPr>
        <p:spPr>
          <a:xfrm>
            <a:off x="822960" y="2148840"/>
            <a:ext cx="5120640" cy="457200"/>
          </a:xfrm>
          <a:prstGeom prst="rect">
            <a:avLst/>
          </a:prstGeom>
          <a:noFill/>
          <a:ln/>
        </p:spPr>
        <p:txBody>
          <a:bodyPr wrap="square"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Database Application Security &amp; Auditing</a:t>
            </a:r>
            <a:endParaRPr lang="en-US" sz="1600" dirty="0"/>
          </a:p>
        </p:txBody>
      </p:sp>
      <p:sp>
        <p:nvSpPr>
          <p:cNvPr id="12" name="Text 10"/>
          <p:cNvSpPr/>
          <p:nvPr/>
        </p:nvSpPr>
        <p:spPr>
          <a:xfrm>
            <a:off x="822960" y="2743200"/>
            <a:ext cx="5120640" cy="3566160"/>
          </a:xfrm>
          <a:prstGeom prst="rect">
            <a:avLst/>
          </a:prstGeom>
          <a:noFill/>
          <a:ln/>
        </p:spPr>
        <p:txBody>
          <a:bodyPr wrap="square" rtlCol="0" anchor="t"/>
          <a:lstStyle/>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Securing financial DBs; least-privilege access.</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Input validation &amp; parameterized queries against SQL injection.</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Vocabulary to explain security concerns to stakeholders.</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Improvement: add ORM lab (Spring Data JPA) alongside raw SQL.</a:t>
            </a:r>
            <a:endParaRPr lang="en-US" sz="1300" dirty="0"/>
          </a:p>
        </p:txBody>
      </p:sp>
      <p:sp>
        <p:nvSpPr>
          <p:cNvPr id="13" name="Shape 11"/>
          <p:cNvSpPr/>
          <p:nvPr/>
        </p:nvSpPr>
        <p:spPr>
          <a:xfrm>
            <a:off x="6309360" y="1737360"/>
            <a:ext cx="5486400" cy="4663440"/>
          </a:xfrm>
          <a:prstGeom prst="roundRect">
            <a:avLst>
              <a:gd name="adj" fmla="val 1961"/>
            </a:avLst>
          </a:prstGeom>
          <a:solidFill>
            <a:srgbClr val="F5F7FB"/>
          </a:solidFill>
          <a:ln w="12700">
            <a:solidFill>
              <a:srgbClr val="1E2761"/>
            </a:solidFill>
            <a:prstDash val="solid"/>
          </a:ln>
        </p:spPr>
      </p:sp>
      <p:sp>
        <p:nvSpPr>
          <p:cNvPr id="14" name="Text 12"/>
          <p:cNvSpPr/>
          <p:nvPr/>
        </p:nvSpPr>
        <p:spPr>
          <a:xfrm>
            <a:off x="6492240" y="1828800"/>
            <a:ext cx="5120640" cy="320040"/>
          </a:xfrm>
          <a:prstGeom prst="rect">
            <a:avLst/>
          </a:prstGeom>
          <a:noFill/>
          <a:ln/>
        </p:spPr>
        <p:txBody>
          <a:bodyPr wrap="square" rtlCol="0" anchor="ctr"/>
          <a:lstStyle/>
          <a:p>
            <a:pPr indent="0" marL="0">
              <a:buNone/>
            </a:pPr>
            <a:r>
              <a:rPr lang="en-US" sz="1300" b="1" spc="300" kern="0" dirty="0">
                <a:solidFill>
                  <a:srgbClr val="F96167"/>
                </a:solidFill>
                <a:latin typeface="Calibri" pitchFamily="34" charset="0"/>
                <a:ea typeface="Calibri" pitchFamily="34" charset="-122"/>
                <a:cs typeface="Calibri" pitchFamily="34" charset="-120"/>
              </a:rPr>
              <a:t>IA 559</a:t>
            </a:r>
            <a:endParaRPr lang="en-US" sz="1300" dirty="0"/>
          </a:p>
        </p:txBody>
      </p:sp>
      <p:sp>
        <p:nvSpPr>
          <p:cNvPr id="15" name="Text 13"/>
          <p:cNvSpPr/>
          <p:nvPr/>
        </p:nvSpPr>
        <p:spPr>
          <a:xfrm>
            <a:off x="6492240" y="2148840"/>
            <a:ext cx="5120640" cy="457200"/>
          </a:xfrm>
          <a:prstGeom prst="rect">
            <a:avLst/>
          </a:prstGeom>
          <a:noFill/>
          <a:ln/>
        </p:spPr>
        <p:txBody>
          <a:bodyPr wrap="square"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Information Systems in Today's World</a:t>
            </a:r>
            <a:endParaRPr lang="en-US" sz="1600" dirty="0"/>
          </a:p>
        </p:txBody>
      </p:sp>
      <p:sp>
        <p:nvSpPr>
          <p:cNvPr id="16" name="Text 14"/>
          <p:cNvSpPr/>
          <p:nvPr/>
        </p:nvSpPr>
        <p:spPr>
          <a:xfrm>
            <a:off x="6492240" y="2743200"/>
            <a:ext cx="5120640" cy="3566160"/>
          </a:xfrm>
          <a:prstGeom prst="rect">
            <a:avLst/>
          </a:prstGeom>
          <a:noFill/>
          <a:ln/>
        </p:spPr>
        <p:txBody>
          <a:bodyPr wrap="square" rtlCol="0" anchor="t"/>
          <a:lstStyle/>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Translating business processes into technical designs.</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Evaluating a system on whether it improves the process it supports.</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Guided requirements gathering with branch operations staff.</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Improvement: add a legacy-to-digital modernization case study.</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PLANNING AND STRUCTURE</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IA 560 &amp; Object-Oriented Design</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25 / 29</a:t>
            </a:r>
            <a:endParaRPr lang="en-US" sz="1000" dirty="0"/>
          </a:p>
        </p:txBody>
      </p:sp>
      <p:sp>
        <p:nvSpPr>
          <p:cNvPr id="9" name="Shape 7"/>
          <p:cNvSpPr/>
          <p:nvPr/>
        </p:nvSpPr>
        <p:spPr>
          <a:xfrm>
            <a:off x="640080" y="1737360"/>
            <a:ext cx="5486400" cy="4663440"/>
          </a:xfrm>
          <a:prstGeom prst="roundRect">
            <a:avLst>
              <a:gd name="adj" fmla="val 1961"/>
            </a:avLst>
          </a:prstGeom>
          <a:solidFill>
            <a:srgbClr val="F5F7FB"/>
          </a:solidFill>
          <a:ln w="12700">
            <a:solidFill>
              <a:srgbClr val="1E2761"/>
            </a:solidFill>
            <a:prstDash val="solid"/>
          </a:ln>
        </p:spPr>
      </p:sp>
      <p:sp>
        <p:nvSpPr>
          <p:cNvPr id="10" name="Text 8"/>
          <p:cNvSpPr/>
          <p:nvPr/>
        </p:nvSpPr>
        <p:spPr>
          <a:xfrm>
            <a:off x="822960" y="1828800"/>
            <a:ext cx="5120640" cy="320040"/>
          </a:xfrm>
          <a:prstGeom prst="rect">
            <a:avLst/>
          </a:prstGeom>
          <a:noFill/>
          <a:ln/>
        </p:spPr>
        <p:txBody>
          <a:bodyPr wrap="square" rtlCol="0" anchor="ctr"/>
          <a:lstStyle/>
          <a:p>
            <a:pPr indent="0" marL="0">
              <a:buNone/>
            </a:pPr>
            <a:r>
              <a:rPr lang="en-US" sz="1300" b="1" spc="300" kern="0" dirty="0">
                <a:solidFill>
                  <a:srgbClr val="F96167"/>
                </a:solidFill>
                <a:latin typeface="Calibri" pitchFamily="34" charset="0"/>
                <a:ea typeface="Calibri" pitchFamily="34" charset="-122"/>
                <a:cs typeface="Calibri" pitchFamily="34" charset="-120"/>
              </a:rPr>
              <a:t>IA 560</a:t>
            </a:r>
            <a:endParaRPr lang="en-US" sz="1300" dirty="0"/>
          </a:p>
        </p:txBody>
      </p:sp>
      <p:sp>
        <p:nvSpPr>
          <p:cNvPr id="11" name="Text 9"/>
          <p:cNvSpPr/>
          <p:nvPr/>
        </p:nvSpPr>
        <p:spPr>
          <a:xfrm>
            <a:off x="822960" y="2148840"/>
            <a:ext cx="5120640" cy="457200"/>
          </a:xfrm>
          <a:prstGeom prst="rect">
            <a:avLst/>
          </a:prstGeom>
          <a:noFill/>
          <a:ln/>
        </p:spPr>
        <p:txBody>
          <a:bodyPr wrap="square"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Project Management</a:t>
            </a:r>
            <a:endParaRPr lang="en-US" sz="1600" dirty="0"/>
          </a:p>
        </p:txBody>
      </p:sp>
      <p:sp>
        <p:nvSpPr>
          <p:cNvPr id="12" name="Text 10"/>
          <p:cNvSpPr/>
          <p:nvPr/>
        </p:nvSpPr>
        <p:spPr>
          <a:xfrm>
            <a:off x="822960" y="2743200"/>
            <a:ext cx="5120640" cy="3566160"/>
          </a:xfrm>
          <a:prstGeom prst="rect">
            <a:avLst/>
          </a:prstGeom>
          <a:noFill/>
          <a:ln/>
        </p:spPr>
        <p:txBody>
          <a:bodyPr wrap="square" rtlCol="0" anchor="t"/>
          <a:lstStyle/>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SMART goals; Gantt charts for sprint &amp; backlog planning.</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Vocabulary for discussing scope, risk, and trade-offs.</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Communicated downstream impact of 'small' feature requests.</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Improvement: add an Agile/Scrum vs. Waterfall module.</a:t>
            </a:r>
            <a:endParaRPr lang="en-US" sz="1300" dirty="0"/>
          </a:p>
        </p:txBody>
      </p:sp>
      <p:sp>
        <p:nvSpPr>
          <p:cNvPr id="13" name="Shape 11"/>
          <p:cNvSpPr/>
          <p:nvPr/>
        </p:nvSpPr>
        <p:spPr>
          <a:xfrm>
            <a:off x="6309360" y="1737360"/>
            <a:ext cx="5486400" cy="4663440"/>
          </a:xfrm>
          <a:prstGeom prst="roundRect">
            <a:avLst>
              <a:gd name="adj" fmla="val 1961"/>
            </a:avLst>
          </a:prstGeom>
          <a:solidFill>
            <a:srgbClr val="F5F7FB"/>
          </a:solidFill>
          <a:ln w="12700">
            <a:solidFill>
              <a:srgbClr val="1E2761"/>
            </a:solidFill>
            <a:prstDash val="solid"/>
          </a:ln>
        </p:spPr>
      </p:sp>
      <p:sp>
        <p:nvSpPr>
          <p:cNvPr id="14" name="Text 12"/>
          <p:cNvSpPr/>
          <p:nvPr/>
        </p:nvSpPr>
        <p:spPr>
          <a:xfrm>
            <a:off x="6492240" y="1828800"/>
            <a:ext cx="5120640" cy="320040"/>
          </a:xfrm>
          <a:prstGeom prst="rect">
            <a:avLst/>
          </a:prstGeom>
          <a:noFill/>
          <a:ln/>
        </p:spPr>
        <p:txBody>
          <a:bodyPr wrap="square" rtlCol="0" anchor="ctr"/>
          <a:lstStyle/>
          <a:p>
            <a:pPr indent="0" marL="0">
              <a:buNone/>
            </a:pPr>
            <a:r>
              <a:rPr lang="en-US" sz="1300" b="1" spc="300" kern="0" dirty="0">
                <a:solidFill>
                  <a:srgbClr val="F96167"/>
                </a:solidFill>
                <a:latin typeface="Calibri" pitchFamily="34" charset="0"/>
                <a:ea typeface="Calibri" pitchFamily="34" charset="-122"/>
                <a:cs typeface="Calibri" pitchFamily="34" charset="-120"/>
              </a:rPr>
              <a:t>PREREQUISITE</a:t>
            </a:r>
            <a:endParaRPr lang="en-US" sz="1300" dirty="0"/>
          </a:p>
        </p:txBody>
      </p:sp>
      <p:sp>
        <p:nvSpPr>
          <p:cNvPr id="15" name="Text 13"/>
          <p:cNvSpPr/>
          <p:nvPr/>
        </p:nvSpPr>
        <p:spPr>
          <a:xfrm>
            <a:off x="6492240" y="2148840"/>
            <a:ext cx="5120640" cy="457200"/>
          </a:xfrm>
          <a:prstGeom prst="rect">
            <a:avLst/>
          </a:prstGeom>
          <a:noFill/>
          <a:ln/>
        </p:spPr>
        <p:txBody>
          <a:bodyPr wrap="square"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Object-Oriented Design Principles</a:t>
            </a:r>
            <a:endParaRPr lang="en-US" sz="1600" dirty="0"/>
          </a:p>
        </p:txBody>
      </p:sp>
      <p:sp>
        <p:nvSpPr>
          <p:cNvPr id="16" name="Text 14"/>
          <p:cNvSpPr/>
          <p:nvPr/>
        </p:nvSpPr>
        <p:spPr>
          <a:xfrm>
            <a:off x="6492240" y="2743200"/>
            <a:ext cx="5120640" cy="3566160"/>
          </a:xfrm>
          <a:prstGeom prst="rect">
            <a:avLst/>
          </a:prstGeom>
          <a:noFill/>
          <a:ln/>
        </p:spPr>
        <p:txBody>
          <a:bodyPr wrap="square" rtlCol="0" anchor="t"/>
          <a:lstStyle/>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Encapsulation, inheritance, and interface design.</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Enabled clean entity &amp; service class structures on DBP.</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Loan-product hierarchy allowed extension without rewrites.</a:t>
            </a:r>
            <a:endParaRPr lang="en-US" sz="1300" dirty="0"/>
          </a:p>
          <a:p>
            <a:pPr marL="342900" indent="-342900">
              <a:spcAft>
                <a:spcPts val="800"/>
              </a:spcAft>
              <a:buSzPct val="100000"/>
              <a:buChar char="■"/>
            </a:pPr>
            <a:r>
              <a:rPr lang="en-US" sz="1300" dirty="0">
                <a:solidFill>
                  <a:srgbClr val="3A3F5C"/>
                </a:solidFill>
                <a:latin typeface="Calibri" pitchFamily="34" charset="0"/>
                <a:ea typeface="Calibri" pitchFamily="34" charset="-122"/>
                <a:cs typeface="Calibri" pitchFamily="34" charset="-120"/>
              </a:rPr>
              <a:t>Improvement: add controller-service-repository &amp; DI patterns.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SECTION 5.1</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Contribution to the Organization</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26 / 29</a:t>
            </a:r>
            <a:endParaRPr lang="en-US" sz="1000" dirty="0"/>
          </a:p>
        </p:txBody>
      </p:sp>
      <p:sp>
        <p:nvSpPr>
          <p:cNvPr id="9" name="Text 7"/>
          <p:cNvSpPr/>
          <p:nvPr/>
        </p:nvSpPr>
        <p:spPr>
          <a:xfrm>
            <a:off x="640080" y="1737360"/>
            <a:ext cx="10972800" cy="4663440"/>
          </a:xfrm>
          <a:prstGeom prst="rect">
            <a:avLst/>
          </a:prstGeom>
          <a:noFill/>
          <a:ln/>
        </p:spPr>
        <p:txBody>
          <a:bodyPr wrap="square" rtlCol="0" anchor="t"/>
          <a:lstStyle/>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Account management, fund transfer, and loan/interest modules became load-bearing parts of the DBP.</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Transactional safeguards on transfers prevented inconsistent balances from near-simultaneous debits.</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Delivered a stable, documented API surface so the front-end team could work in parallel with backend.</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Parallelization measurably shortened time from feature design to stakeholder demo.</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Fresh-perspective questions surfaced stale validation rules, prompting small but genuine improvements.</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Rewrote jargon-heavy error messages into plain-language text usable across the customer base.</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SECTION 5.2</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Contribution to Self-Improvement</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27 / 29</a:t>
            </a:r>
            <a:endParaRPr lang="en-US" sz="1000" dirty="0"/>
          </a:p>
        </p:txBody>
      </p:sp>
      <p:sp>
        <p:nvSpPr>
          <p:cNvPr id="9" name="Text 7"/>
          <p:cNvSpPr/>
          <p:nvPr/>
        </p:nvSpPr>
        <p:spPr>
          <a:xfrm>
            <a:off x="640080" y="1737360"/>
            <a:ext cx="10972800" cy="4663440"/>
          </a:xfrm>
          <a:prstGeom prst="rect">
            <a:avLst/>
          </a:prstGeom>
          <a:noFill/>
          <a:ln/>
        </p:spPr>
        <p:txBody>
          <a:bodyPr wrap="square" rtlCol="0" anchor="t"/>
          <a:lstStyle/>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Learned to treat recent commit history as living documentation — more reliable than stale wikis.</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Started writing commit messages that explained why, not just what, was changing.</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One API-field rename broke the transfer screen — taught me an API is a shared, versioned contract.</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Now proactively flag even minor field renames before opening a pull request.</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Developed automatic reasoning about concurrency: 'what happens if this runs twice at once?'</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Test suites evolved from single-input verification to deliberate concurrent-scenario coverage.</a:t>
            </a:r>
            <a:endParaRPr lang="en-US" sz="1600" dirty="0"/>
          </a:p>
          <a:p>
            <a:pPr marL="342900" indent="-342900">
              <a:spcAft>
                <a:spcPts val="800"/>
              </a:spcAft>
              <a:buSzPct val="100000"/>
              <a:buChar char="■"/>
            </a:pPr>
            <a:r>
              <a:rPr lang="en-US" sz="1600" dirty="0">
                <a:solidFill>
                  <a:srgbClr val="3A3F5C"/>
                </a:solidFill>
                <a:latin typeface="Calibri" pitchFamily="34" charset="0"/>
                <a:ea typeface="Calibri" pitchFamily="34" charset="-122"/>
                <a:cs typeface="Calibri" pitchFamily="34" charset="-120"/>
              </a:rPr>
              <a:t>Built a personal three-questions checklist for hidden edge cases before estimating any story.</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629400"/>
          </a:xfrm>
          <a:prstGeom prst="rect">
            <a:avLst/>
          </a:prstGeom>
          <a:solidFill>
            <a:srgbClr val="1E2761"/>
          </a:solidFill>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SECTION 6 · SLOS</a:t>
            </a:r>
            <a:endParaRPr lang="en-US" sz="1200" dirty="0"/>
          </a:p>
        </p:txBody>
      </p:sp>
      <p:sp>
        <p:nvSpPr>
          <p:cNvPr id="4" name="Text 2"/>
          <p:cNvSpPr/>
          <p:nvPr/>
        </p:nvSpPr>
        <p:spPr>
          <a:xfrm>
            <a:off x="548640" y="640080"/>
            <a:ext cx="11430000" cy="8229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Learning Outcomes &amp; Key Takeaways</a:t>
            </a:r>
            <a:endParaRPr lang="en-US" sz="3000" dirty="0"/>
          </a:p>
        </p:txBody>
      </p:sp>
      <p:sp>
        <p:nvSpPr>
          <p:cNvPr id="5" name="Shape 3"/>
          <p:cNvSpPr/>
          <p:nvPr/>
        </p:nvSpPr>
        <p:spPr>
          <a:xfrm>
            <a:off x="548640" y="1508760"/>
            <a:ext cx="1097280" cy="0"/>
          </a:xfrm>
          <a:prstGeom prst="line">
            <a:avLst/>
          </a:prstGeom>
          <a:noFill/>
          <a:ln w="38100">
            <a:solidFill>
              <a:srgbClr val="F96167"/>
            </a:solidFill>
            <a:prstDash val="solid"/>
          </a:ln>
        </p:spPr>
      </p:sp>
      <p:sp>
        <p:nvSpPr>
          <p:cNvPr id="6" name="Shape 4"/>
          <p:cNvSpPr/>
          <p:nvPr/>
        </p:nvSpPr>
        <p:spPr>
          <a:xfrm>
            <a:off x="0" y="6629400"/>
            <a:ext cx="12188952" cy="228600"/>
          </a:xfrm>
          <a:prstGeom prst="rect">
            <a:avLst/>
          </a:prstGeom>
          <a:solidFill>
            <a:srgbClr val="1E2761"/>
          </a:solidFill>
          <a:ln/>
        </p:spPr>
      </p:sp>
      <p:sp>
        <p:nvSpPr>
          <p:cNvPr id="7" name="Text 5"/>
          <p:cNvSpPr/>
          <p:nvPr/>
        </p:nvSpPr>
        <p:spPr>
          <a:xfrm>
            <a:off x="274320" y="6629400"/>
            <a:ext cx="9144000" cy="2286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Banking Platform  |  Sai Kumar Jaladi  |  IA 699</a:t>
            </a:r>
            <a:endParaRPr lang="en-US" sz="1000" dirty="0"/>
          </a:p>
        </p:txBody>
      </p:sp>
      <p:sp>
        <p:nvSpPr>
          <p:cNvPr id="8" name="Text 6"/>
          <p:cNvSpPr/>
          <p:nvPr/>
        </p:nvSpPr>
        <p:spPr>
          <a:xfrm>
            <a:off x="11247120" y="6629400"/>
            <a:ext cx="822960" cy="22860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28 / 29</a:t>
            </a:r>
            <a:endParaRPr lang="en-US" sz="1000" dirty="0"/>
          </a:p>
        </p:txBody>
      </p:sp>
      <p:sp>
        <p:nvSpPr>
          <p:cNvPr id="9" name="Shape 7"/>
          <p:cNvSpPr/>
          <p:nvPr/>
        </p:nvSpPr>
        <p:spPr>
          <a:xfrm>
            <a:off x="640080" y="1828800"/>
            <a:ext cx="5303520" cy="1737360"/>
          </a:xfrm>
          <a:prstGeom prst="roundRect">
            <a:avLst>
              <a:gd name="adj" fmla="val 4211"/>
            </a:avLst>
          </a:prstGeom>
          <a:solidFill>
            <a:srgbClr val="F5F7FB"/>
          </a:solidFill>
          <a:ln w="12700">
            <a:solidFill>
              <a:srgbClr val="1E2761"/>
            </a:solidFill>
            <a:prstDash val="solid"/>
          </a:ln>
        </p:spPr>
      </p:sp>
      <p:sp>
        <p:nvSpPr>
          <p:cNvPr id="10" name="Shape 8"/>
          <p:cNvSpPr/>
          <p:nvPr/>
        </p:nvSpPr>
        <p:spPr>
          <a:xfrm>
            <a:off x="640080" y="1828800"/>
            <a:ext cx="128016" cy="1737360"/>
          </a:xfrm>
          <a:prstGeom prst="rect">
            <a:avLst/>
          </a:prstGeom>
          <a:solidFill>
            <a:srgbClr val="F96167"/>
          </a:solidFill>
          <a:ln/>
        </p:spPr>
      </p:sp>
      <p:sp>
        <p:nvSpPr>
          <p:cNvPr id="11" name="Text 9"/>
          <p:cNvSpPr/>
          <p:nvPr/>
        </p:nvSpPr>
        <p:spPr>
          <a:xfrm>
            <a:off x="914400" y="2011680"/>
            <a:ext cx="4937760" cy="411480"/>
          </a:xfrm>
          <a:prstGeom prst="rect">
            <a:avLst/>
          </a:prstGeom>
          <a:noFill/>
          <a:ln/>
        </p:spPr>
        <p:txBody>
          <a:bodyPr wrap="square" rtlCol="0" anchor="ctr"/>
          <a:lstStyle/>
          <a:p>
            <a:pPr indent="0" marL="0">
              <a:buNone/>
            </a:pPr>
            <a:r>
              <a:rPr lang="en-US" sz="1800" b="1" dirty="0">
                <a:solidFill>
                  <a:srgbClr val="F96167"/>
                </a:solidFill>
                <a:latin typeface="Georgia" pitchFamily="34" charset="0"/>
                <a:ea typeface="Georgia" pitchFamily="34" charset="-122"/>
                <a:cs typeface="Georgia" pitchFamily="34" charset="-120"/>
              </a:rPr>
              <a:t>SLO 1</a:t>
            </a:r>
            <a:endParaRPr lang="en-US" sz="1800" dirty="0"/>
          </a:p>
        </p:txBody>
      </p:sp>
      <p:sp>
        <p:nvSpPr>
          <p:cNvPr id="12" name="Text 10"/>
          <p:cNvSpPr/>
          <p:nvPr/>
        </p:nvSpPr>
        <p:spPr>
          <a:xfrm>
            <a:off x="914400" y="2468880"/>
            <a:ext cx="4937760" cy="1005840"/>
          </a:xfrm>
          <a:prstGeom prst="rect">
            <a:avLst/>
          </a:prstGeom>
          <a:noFill/>
          <a:ln/>
        </p:spPr>
        <p:txBody>
          <a:bodyPr wrap="square" rtlCol="0" anchor="t"/>
          <a:lstStyle/>
          <a:p>
            <a:pPr indent="0" marL="0">
              <a:buNone/>
            </a:pPr>
            <a:r>
              <a:rPr lang="en-US" sz="1400" dirty="0">
                <a:solidFill>
                  <a:srgbClr val="3A3F5C"/>
                </a:solidFill>
                <a:latin typeface="Calibri" pitchFamily="34" charset="0"/>
                <a:ea typeface="Calibri" pitchFamily="34" charset="-122"/>
                <a:cs typeface="Calibri" pitchFamily="34" charset="-120"/>
              </a:rPr>
              <a:t>Applied academic knowledge — DB design, secure coding, OOD — to real production constraints.</a:t>
            </a:r>
            <a:endParaRPr lang="en-US" sz="1400" dirty="0"/>
          </a:p>
        </p:txBody>
      </p:sp>
      <p:sp>
        <p:nvSpPr>
          <p:cNvPr id="13" name="Shape 11"/>
          <p:cNvSpPr/>
          <p:nvPr/>
        </p:nvSpPr>
        <p:spPr>
          <a:xfrm>
            <a:off x="6309360" y="1828800"/>
            <a:ext cx="5303520" cy="1737360"/>
          </a:xfrm>
          <a:prstGeom prst="roundRect">
            <a:avLst>
              <a:gd name="adj" fmla="val 4211"/>
            </a:avLst>
          </a:prstGeom>
          <a:solidFill>
            <a:srgbClr val="F5F7FB"/>
          </a:solidFill>
          <a:ln w="12700">
            <a:solidFill>
              <a:srgbClr val="1E2761"/>
            </a:solidFill>
            <a:prstDash val="solid"/>
          </a:ln>
        </p:spPr>
      </p:sp>
      <p:sp>
        <p:nvSpPr>
          <p:cNvPr id="14" name="Shape 12"/>
          <p:cNvSpPr/>
          <p:nvPr/>
        </p:nvSpPr>
        <p:spPr>
          <a:xfrm>
            <a:off x="6309360" y="1828800"/>
            <a:ext cx="128016" cy="1737360"/>
          </a:xfrm>
          <a:prstGeom prst="rect">
            <a:avLst/>
          </a:prstGeom>
          <a:solidFill>
            <a:srgbClr val="F96167"/>
          </a:solidFill>
          <a:ln/>
        </p:spPr>
      </p:sp>
      <p:sp>
        <p:nvSpPr>
          <p:cNvPr id="15" name="Text 13"/>
          <p:cNvSpPr/>
          <p:nvPr/>
        </p:nvSpPr>
        <p:spPr>
          <a:xfrm>
            <a:off x="6583680" y="2011680"/>
            <a:ext cx="4937760" cy="411480"/>
          </a:xfrm>
          <a:prstGeom prst="rect">
            <a:avLst/>
          </a:prstGeom>
          <a:noFill/>
          <a:ln/>
        </p:spPr>
        <p:txBody>
          <a:bodyPr wrap="square" rtlCol="0" anchor="ctr"/>
          <a:lstStyle/>
          <a:p>
            <a:pPr indent="0" marL="0">
              <a:buNone/>
            </a:pPr>
            <a:r>
              <a:rPr lang="en-US" sz="1800" b="1" dirty="0">
                <a:solidFill>
                  <a:srgbClr val="F96167"/>
                </a:solidFill>
                <a:latin typeface="Georgia" pitchFamily="34" charset="0"/>
                <a:ea typeface="Georgia" pitchFamily="34" charset="-122"/>
                <a:cs typeface="Georgia" pitchFamily="34" charset="-120"/>
              </a:rPr>
              <a:t>SLO 2</a:t>
            </a:r>
            <a:endParaRPr lang="en-US" sz="1800" dirty="0"/>
          </a:p>
        </p:txBody>
      </p:sp>
      <p:sp>
        <p:nvSpPr>
          <p:cNvPr id="16" name="Text 14"/>
          <p:cNvSpPr/>
          <p:nvPr/>
        </p:nvSpPr>
        <p:spPr>
          <a:xfrm>
            <a:off x="6583680" y="2468880"/>
            <a:ext cx="4937760" cy="1005840"/>
          </a:xfrm>
          <a:prstGeom prst="rect">
            <a:avLst/>
          </a:prstGeom>
          <a:noFill/>
          <a:ln/>
        </p:spPr>
        <p:txBody>
          <a:bodyPr wrap="square" rtlCol="0" anchor="t"/>
          <a:lstStyle/>
          <a:p>
            <a:pPr indent="0" marL="0">
              <a:buNone/>
            </a:pPr>
            <a:r>
              <a:rPr lang="en-US" sz="1400" dirty="0">
                <a:solidFill>
                  <a:srgbClr val="3A3F5C"/>
                </a:solidFill>
                <a:latin typeface="Calibri" pitchFamily="34" charset="0"/>
                <a:ea typeface="Calibri" pitchFamily="34" charset="-122"/>
                <a:cs typeface="Calibri" pitchFamily="34" charset="-120"/>
              </a:rPr>
              <a:t>Communicated professionally across daily stand-ups, sprint planning, retros, and cross-team API work.</a:t>
            </a:r>
            <a:endParaRPr lang="en-US" sz="1400" dirty="0"/>
          </a:p>
        </p:txBody>
      </p:sp>
      <p:sp>
        <p:nvSpPr>
          <p:cNvPr id="17" name="Shape 15"/>
          <p:cNvSpPr/>
          <p:nvPr/>
        </p:nvSpPr>
        <p:spPr>
          <a:xfrm>
            <a:off x="640080" y="3840480"/>
            <a:ext cx="5303520" cy="1737360"/>
          </a:xfrm>
          <a:prstGeom prst="roundRect">
            <a:avLst>
              <a:gd name="adj" fmla="val 4211"/>
            </a:avLst>
          </a:prstGeom>
          <a:solidFill>
            <a:srgbClr val="F5F7FB"/>
          </a:solidFill>
          <a:ln w="12700">
            <a:solidFill>
              <a:srgbClr val="1E2761"/>
            </a:solidFill>
            <a:prstDash val="solid"/>
          </a:ln>
        </p:spPr>
      </p:sp>
      <p:sp>
        <p:nvSpPr>
          <p:cNvPr id="18" name="Shape 16"/>
          <p:cNvSpPr/>
          <p:nvPr/>
        </p:nvSpPr>
        <p:spPr>
          <a:xfrm>
            <a:off x="640080" y="3840480"/>
            <a:ext cx="128016" cy="1737360"/>
          </a:xfrm>
          <a:prstGeom prst="rect">
            <a:avLst/>
          </a:prstGeom>
          <a:solidFill>
            <a:srgbClr val="F96167"/>
          </a:solidFill>
          <a:ln/>
        </p:spPr>
      </p:sp>
      <p:sp>
        <p:nvSpPr>
          <p:cNvPr id="19" name="Text 17"/>
          <p:cNvSpPr/>
          <p:nvPr/>
        </p:nvSpPr>
        <p:spPr>
          <a:xfrm>
            <a:off x="914400" y="4023360"/>
            <a:ext cx="4937760" cy="411480"/>
          </a:xfrm>
          <a:prstGeom prst="rect">
            <a:avLst/>
          </a:prstGeom>
          <a:noFill/>
          <a:ln/>
        </p:spPr>
        <p:txBody>
          <a:bodyPr wrap="square" rtlCol="0" anchor="ctr"/>
          <a:lstStyle/>
          <a:p>
            <a:pPr indent="0" marL="0">
              <a:buNone/>
            </a:pPr>
            <a:r>
              <a:rPr lang="en-US" sz="1800" b="1" dirty="0">
                <a:solidFill>
                  <a:srgbClr val="F96167"/>
                </a:solidFill>
                <a:latin typeface="Georgia" pitchFamily="34" charset="0"/>
                <a:ea typeface="Georgia" pitchFamily="34" charset="-122"/>
                <a:cs typeface="Georgia" pitchFamily="34" charset="-120"/>
              </a:rPr>
              <a:t>SLO 3</a:t>
            </a:r>
            <a:endParaRPr lang="en-US" sz="1800" dirty="0"/>
          </a:p>
        </p:txBody>
      </p:sp>
      <p:sp>
        <p:nvSpPr>
          <p:cNvPr id="20" name="Text 18"/>
          <p:cNvSpPr/>
          <p:nvPr/>
        </p:nvSpPr>
        <p:spPr>
          <a:xfrm>
            <a:off x="914400" y="4480560"/>
            <a:ext cx="4937760" cy="1005840"/>
          </a:xfrm>
          <a:prstGeom prst="rect">
            <a:avLst/>
          </a:prstGeom>
          <a:noFill/>
          <a:ln/>
        </p:spPr>
        <p:txBody>
          <a:bodyPr wrap="square" rtlCol="0" anchor="t"/>
          <a:lstStyle/>
          <a:p>
            <a:pPr indent="0" marL="0">
              <a:buNone/>
            </a:pPr>
            <a:r>
              <a:rPr lang="en-US" sz="1400" dirty="0">
                <a:solidFill>
                  <a:srgbClr val="3A3F5C"/>
                </a:solidFill>
                <a:latin typeface="Calibri" pitchFamily="34" charset="0"/>
                <a:ea typeface="Calibri" pitchFamily="34" charset="-122"/>
                <a:cs typeface="Calibri" pitchFamily="34" charset="-120"/>
              </a:rPr>
              <a:t>Implemented security &amp; data-integrity controls: transactional shields, RBAC, secure coding practices.</a:t>
            </a:r>
            <a:endParaRPr lang="en-US" sz="1400" dirty="0"/>
          </a:p>
        </p:txBody>
      </p:sp>
      <p:sp>
        <p:nvSpPr>
          <p:cNvPr id="21" name="Shape 19"/>
          <p:cNvSpPr/>
          <p:nvPr/>
        </p:nvSpPr>
        <p:spPr>
          <a:xfrm>
            <a:off x="6309360" y="3840480"/>
            <a:ext cx="5303520" cy="1737360"/>
          </a:xfrm>
          <a:prstGeom prst="roundRect">
            <a:avLst>
              <a:gd name="adj" fmla="val 4211"/>
            </a:avLst>
          </a:prstGeom>
          <a:solidFill>
            <a:srgbClr val="F5F7FB"/>
          </a:solidFill>
          <a:ln w="12700">
            <a:solidFill>
              <a:srgbClr val="1E2761"/>
            </a:solidFill>
            <a:prstDash val="solid"/>
          </a:ln>
        </p:spPr>
      </p:sp>
      <p:sp>
        <p:nvSpPr>
          <p:cNvPr id="22" name="Shape 20"/>
          <p:cNvSpPr/>
          <p:nvPr/>
        </p:nvSpPr>
        <p:spPr>
          <a:xfrm>
            <a:off x="6309360" y="3840480"/>
            <a:ext cx="128016" cy="1737360"/>
          </a:xfrm>
          <a:prstGeom prst="rect">
            <a:avLst/>
          </a:prstGeom>
          <a:solidFill>
            <a:srgbClr val="F96167"/>
          </a:solidFill>
          <a:ln/>
        </p:spPr>
      </p:sp>
      <p:sp>
        <p:nvSpPr>
          <p:cNvPr id="23" name="Text 21"/>
          <p:cNvSpPr/>
          <p:nvPr/>
        </p:nvSpPr>
        <p:spPr>
          <a:xfrm>
            <a:off x="6583680" y="4023360"/>
            <a:ext cx="4937760" cy="411480"/>
          </a:xfrm>
          <a:prstGeom prst="rect">
            <a:avLst/>
          </a:prstGeom>
          <a:noFill/>
          <a:ln/>
        </p:spPr>
        <p:txBody>
          <a:bodyPr wrap="square" rtlCol="0" anchor="ctr"/>
          <a:lstStyle/>
          <a:p>
            <a:pPr indent="0" marL="0">
              <a:buNone/>
            </a:pPr>
            <a:r>
              <a:rPr lang="en-US" sz="1800" b="1" dirty="0">
                <a:solidFill>
                  <a:srgbClr val="F96167"/>
                </a:solidFill>
                <a:latin typeface="Georgia" pitchFamily="34" charset="0"/>
                <a:ea typeface="Georgia" pitchFamily="34" charset="-122"/>
                <a:cs typeface="Georgia" pitchFamily="34" charset="-120"/>
              </a:rPr>
              <a:t>SLO 4</a:t>
            </a:r>
            <a:endParaRPr lang="en-US" sz="1800" dirty="0"/>
          </a:p>
        </p:txBody>
      </p:sp>
      <p:sp>
        <p:nvSpPr>
          <p:cNvPr id="24" name="Text 22"/>
          <p:cNvSpPr/>
          <p:nvPr/>
        </p:nvSpPr>
        <p:spPr>
          <a:xfrm>
            <a:off x="6583680" y="4480560"/>
            <a:ext cx="4937760" cy="1005840"/>
          </a:xfrm>
          <a:prstGeom prst="rect">
            <a:avLst/>
          </a:prstGeom>
          <a:noFill/>
          <a:ln/>
        </p:spPr>
        <p:txBody>
          <a:bodyPr wrap="square" rtlCol="0" anchor="t"/>
          <a:lstStyle/>
          <a:p>
            <a:pPr indent="0" marL="0">
              <a:buNone/>
            </a:pPr>
            <a:r>
              <a:rPr lang="en-US" sz="1400" dirty="0">
                <a:solidFill>
                  <a:srgbClr val="3A3F5C"/>
                </a:solidFill>
                <a:latin typeface="Calibri" pitchFamily="34" charset="0"/>
                <a:ea typeface="Calibri" pitchFamily="34" charset="-122"/>
                <a:cs typeface="Calibri" pitchFamily="34" charset="-120"/>
              </a:rPr>
              <a:t>Reflected on growth: API-contract lesson, concurrency reasoning, and durable process improvements.</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F96167"/>
          </a:solidFill>
          <a:ln/>
        </p:spPr>
      </p:sp>
      <p:sp>
        <p:nvSpPr>
          <p:cNvPr id="3" name="Shape 1"/>
          <p:cNvSpPr/>
          <p:nvPr/>
        </p:nvSpPr>
        <p:spPr>
          <a:xfrm>
            <a:off x="0" y="6720840"/>
            <a:ext cx="12188952" cy="137160"/>
          </a:xfrm>
          <a:prstGeom prst="rect">
            <a:avLst/>
          </a:prstGeom>
          <a:solidFill>
            <a:srgbClr val="F96167"/>
          </a:solidFill>
          <a:ln/>
        </p:spPr>
      </p:sp>
      <p:sp>
        <p:nvSpPr>
          <p:cNvPr id="4" name="Shape 2"/>
          <p:cNvSpPr/>
          <p:nvPr/>
        </p:nvSpPr>
        <p:spPr>
          <a:xfrm>
            <a:off x="-1828800" y="-1828800"/>
            <a:ext cx="4572000" cy="4572000"/>
          </a:xfrm>
          <a:prstGeom prst="ellipse">
            <a:avLst/>
          </a:prstGeom>
          <a:solidFill>
            <a:srgbClr val="F96167">
              <a:alpha val="20000"/>
            </a:srgbClr>
          </a:solidFill>
          <a:ln w="12700">
            <a:solidFill>
              <a:srgbClr val="1E2761"/>
            </a:solidFill>
            <a:prstDash val="solid"/>
          </a:ln>
        </p:spPr>
      </p:sp>
      <p:sp>
        <p:nvSpPr>
          <p:cNvPr id="5" name="Shape 3"/>
          <p:cNvSpPr/>
          <p:nvPr/>
        </p:nvSpPr>
        <p:spPr>
          <a:xfrm>
            <a:off x="9601200" y="5029200"/>
            <a:ext cx="4572000" cy="4572000"/>
          </a:xfrm>
          <a:prstGeom prst="ellipse">
            <a:avLst/>
          </a:prstGeom>
          <a:solidFill>
            <a:srgbClr val="F96167">
              <a:alpha val="15000"/>
            </a:srgbClr>
          </a:solidFill>
          <a:ln w="12700">
            <a:solidFill>
              <a:srgbClr val="1E2761"/>
            </a:solidFill>
            <a:prstDash val="solid"/>
          </a:ln>
        </p:spPr>
      </p:sp>
      <p:sp>
        <p:nvSpPr>
          <p:cNvPr id="6" name="Text 4"/>
          <p:cNvSpPr/>
          <p:nvPr/>
        </p:nvSpPr>
        <p:spPr>
          <a:xfrm>
            <a:off x="457200" y="2194560"/>
            <a:ext cx="11274552" cy="1280160"/>
          </a:xfrm>
          <a:prstGeom prst="rect">
            <a:avLst/>
          </a:prstGeom>
          <a:noFill/>
          <a:ln/>
        </p:spPr>
        <p:txBody>
          <a:bodyPr wrap="square" rtlCol="0" anchor="ctr"/>
          <a:lstStyle/>
          <a:p>
            <a:pPr algn="ctr" indent="0" marL="0">
              <a:buNone/>
            </a:pPr>
            <a:r>
              <a:rPr lang="en-US" sz="9600" b="1" spc="800" kern="0" dirty="0">
                <a:solidFill>
                  <a:srgbClr val="FFFFFF"/>
                </a:solidFill>
                <a:latin typeface="Georgia" pitchFamily="34" charset="0"/>
                <a:ea typeface="Georgia" pitchFamily="34" charset="-122"/>
                <a:cs typeface="Georgia" pitchFamily="34" charset="-120"/>
              </a:rPr>
              <a:t>THANK YOU</a:t>
            </a:r>
            <a:endParaRPr lang="en-US" sz="9600" dirty="0"/>
          </a:p>
        </p:txBody>
      </p:sp>
      <p:sp>
        <p:nvSpPr>
          <p:cNvPr id="7" name="Shape 5"/>
          <p:cNvSpPr/>
          <p:nvPr/>
        </p:nvSpPr>
        <p:spPr>
          <a:xfrm>
            <a:off x="5175504" y="3520440"/>
            <a:ext cx="1828800" cy="54864"/>
          </a:xfrm>
          <a:prstGeom prst="rect">
            <a:avLst/>
          </a:prstGeom>
          <a:solidFill>
            <a:srgbClr val="F96167"/>
          </a:solidFill>
          <a:ln/>
        </p:spPr>
      </p:sp>
      <p:sp>
        <p:nvSpPr>
          <p:cNvPr id="8" name="Text 6"/>
          <p:cNvSpPr/>
          <p:nvPr/>
        </p:nvSpPr>
        <p:spPr>
          <a:xfrm>
            <a:off x="457200" y="3749040"/>
            <a:ext cx="11274552" cy="548640"/>
          </a:xfrm>
          <a:prstGeom prst="rect">
            <a:avLst/>
          </a:prstGeom>
          <a:noFill/>
          <a:ln/>
        </p:spPr>
        <p:txBody>
          <a:bodyPr wrap="square" rtlCol="0" anchor="ctr"/>
          <a:lstStyle/>
          <a:p>
            <a:pPr algn="ctr" indent="0" marL="0">
              <a:buNone/>
            </a:pPr>
            <a:r>
              <a:rPr lang="en-US" sz="2800" i="1" dirty="0">
                <a:solidFill>
                  <a:srgbClr val="F5F7FB"/>
                </a:solidFill>
                <a:latin typeface="Georgia" pitchFamily="34" charset="0"/>
                <a:ea typeface="Georgia" pitchFamily="34" charset="-122"/>
                <a:cs typeface="Georgia" pitchFamily="34" charset="-120"/>
              </a:rPr>
              <a:t>Questions &amp; Discussion</a:t>
            </a:r>
            <a:endParaRPr lang="en-US" sz="2800" dirty="0"/>
          </a:p>
        </p:txBody>
      </p:sp>
      <p:sp>
        <p:nvSpPr>
          <p:cNvPr id="9" name="Text 7"/>
          <p:cNvSpPr/>
          <p:nvPr/>
        </p:nvSpPr>
        <p:spPr>
          <a:xfrm>
            <a:off x="457200" y="4663440"/>
            <a:ext cx="11274552" cy="365760"/>
          </a:xfrm>
          <a:prstGeom prst="rect">
            <a:avLst/>
          </a:prstGeom>
          <a:noFill/>
          <a:ln/>
        </p:spPr>
        <p:txBody>
          <a:bodyPr wrap="square" rtlCol="0" anchor="ctr"/>
          <a:lstStyle/>
          <a:p>
            <a:pPr algn="ctr" indent="0" marL="0">
              <a:buNone/>
            </a:pPr>
            <a:r>
              <a:rPr lang="en-US" sz="1400" spc="400" kern="0" dirty="0">
                <a:solidFill>
                  <a:srgbClr val="F5F7FB"/>
                </a:solidFill>
                <a:latin typeface="Calibri" pitchFamily="34" charset="0"/>
                <a:ea typeface="Calibri" pitchFamily="34" charset="-122"/>
                <a:cs typeface="Calibri" pitchFamily="34" charset="-120"/>
              </a:rPr>
              <a:t>Digital Banking Internship  ·  Final Presentation</a:t>
            </a:r>
            <a:endParaRPr lang="en-US" sz="1400" dirty="0"/>
          </a:p>
        </p:txBody>
      </p:sp>
      <p:sp>
        <p:nvSpPr>
          <p:cNvPr id="10" name="Text 8"/>
          <p:cNvSpPr/>
          <p:nvPr/>
        </p:nvSpPr>
        <p:spPr>
          <a:xfrm>
            <a:off x="10515600" y="6400800"/>
            <a:ext cx="1371600" cy="274320"/>
          </a:xfrm>
          <a:prstGeom prst="rect">
            <a:avLst/>
          </a:prstGeom>
          <a:noFill/>
          <a:ln/>
        </p:spPr>
        <p:txBody>
          <a:bodyPr wrap="square" rtlCol="0" anchor="ctr"/>
          <a:lstStyle/>
          <a:p>
            <a:pPr algn="r" indent="0" marL="0">
              <a:buNone/>
            </a:pPr>
            <a:r>
              <a:rPr lang="en-US" sz="1000" dirty="0">
                <a:solidFill>
                  <a:srgbClr val="F5F7FB"/>
                </a:solidFill>
                <a:latin typeface="Calibri" pitchFamily="34" charset="0"/>
                <a:ea typeface="Calibri" pitchFamily="34" charset="-122"/>
                <a:cs typeface="Calibri" pitchFamily="34" charset="-120"/>
              </a:rPr>
              <a:t>29 / 29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Banking Platform Internship</dc:title>
  <dc:subject>PptxGenJS Presentation</dc:subject>
  <dc:creator>PptxGenJS</dc:creator>
  <cp:lastModifiedBy>PptxGenJS</cp:lastModifiedBy>
  <cp:revision>1</cp:revision>
  <dcterms:created xsi:type="dcterms:W3CDTF">2026-07-09T16:33:44Z</dcterms:created>
  <dcterms:modified xsi:type="dcterms:W3CDTF">2026-07-09T16:33:44Z</dcterms:modified>
</cp:coreProperties>
</file>