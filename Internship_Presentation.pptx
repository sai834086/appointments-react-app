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85EED-B6B3-4616-9A15-CBD3616F1C36}" v="9" dt="2026-07-09T15:28:33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725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umar" userId="6fef9671dfc953b6" providerId="LiveId" clId="{897E4C4D-728B-49AF-BEC5-B7BF4D37B7F5}"/>
    <pc:docChg chg="custSel modSld">
      <pc:chgData name="sai kumar" userId="6fef9671dfc953b6" providerId="LiveId" clId="{897E4C4D-728B-49AF-BEC5-B7BF4D37B7F5}" dt="2026-07-09T15:29:26.913" v="243" actId="313"/>
      <pc:docMkLst>
        <pc:docMk/>
      </pc:docMkLst>
      <pc:sldChg chg="addSp delSp modSp mod chgLayout">
        <pc:chgData name="sai kumar" userId="6fef9671dfc953b6" providerId="LiveId" clId="{897E4C4D-728B-49AF-BEC5-B7BF4D37B7F5}" dt="2026-07-09T15:29:26.913" v="243" actId="313"/>
        <pc:sldMkLst>
          <pc:docMk/>
          <pc:sldMk cId="0" sldId="256"/>
        </pc:sldMkLst>
        <pc:spChg chg="del">
          <ac:chgData name="sai kumar" userId="6fef9671dfc953b6" providerId="LiveId" clId="{897E4C4D-728B-49AF-BEC5-B7BF4D37B7F5}" dt="2026-07-09T15:23:05.233" v="202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ai kumar" userId="6fef9671dfc953b6" providerId="LiveId" clId="{897E4C4D-728B-49AF-BEC5-B7BF4D37B7F5}" dt="2026-07-09T15:23:02.831" v="2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i kumar" userId="6fef9671dfc953b6" providerId="LiveId" clId="{897E4C4D-728B-49AF-BEC5-B7BF4D37B7F5}" dt="2026-07-09T15:22:40.346" v="20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i kumar" userId="6fef9671dfc953b6" providerId="LiveId" clId="{897E4C4D-728B-49AF-BEC5-B7BF4D37B7F5}" dt="2026-07-09T05:23:16.377" v="7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i kumar" userId="6fef9671dfc953b6" providerId="LiveId" clId="{897E4C4D-728B-49AF-BEC5-B7BF4D37B7F5}" dt="2026-07-09T05:23:53.131" v="157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sai kumar" userId="6fef9671dfc953b6" providerId="LiveId" clId="{897E4C4D-728B-49AF-BEC5-B7BF4D37B7F5}" dt="2026-07-09T15:23:46.872" v="204" actId="767"/>
          <ac:spMkLst>
            <pc:docMk/>
            <pc:sldMk cId="0" sldId="256"/>
            <ac:spMk id="10" creationId="{FD01D2C6-DCE0-2B12-8387-F93FC6A9B90A}"/>
          </ac:spMkLst>
        </pc:spChg>
        <pc:spChg chg="add mod">
          <ac:chgData name="sai kumar" userId="6fef9671dfc953b6" providerId="LiveId" clId="{897E4C4D-728B-49AF-BEC5-B7BF4D37B7F5}" dt="2026-07-09T15:24:14.858" v="206" actId="767"/>
          <ac:spMkLst>
            <pc:docMk/>
            <pc:sldMk cId="0" sldId="256"/>
            <ac:spMk id="11" creationId="{176941B8-978C-BE99-4A71-4AAD973A89C2}"/>
          </ac:spMkLst>
        </pc:spChg>
        <pc:spChg chg="add mod">
          <ac:chgData name="sai kumar" userId="6fef9671dfc953b6" providerId="LiveId" clId="{897E4C4D-728B-49AF-BEC5-B7BF4D37B7F5}" dt="2026-07-09T15:29:26.913" v="243" actId="313"/>
          <ac:spMkLst>
            <pc:docMk/>
            <pc:sldMk cId="0" sldId="256"/>
            <ac:spMk id="12" creationId="{FD2692A5-C50A-9FC0-B16B-16A8A8EF54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76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MSIA CULMINATING INTERNSHIP EXPERIENCE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INTERNSHIP PROJECT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Backend Development Internship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41248" y="397764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KUMAR JALADI  |   July / 2026   |   IA699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54881"/>
            <a:ext cx="8229600" cy="1554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2692A5-C50A-9FC0-B16B-16A8A8EF549B}"/>
              </a:ext>
            </a:extLst>
          </p:cNvPr>
          <p:cNvSpPr txBox="1"/>
          <p:nvPr/>
        </p:nvSpPr>
        <p:spPr>
          <a:xfrm>
            <a:off x="9052561" y="4503509"/>
            <a:ext cx="19862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chemeClr val="bg1">
                    <a:lumMod val="95000"/>
                  </a:schemeClr>
                </a:solidFill>
              </a:rPr>
              <a:t>Committee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fontAlgn="base"/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Collen, Lynn A</a:t>
            </a:r>
          </a:p>
          <a:p>
            <a:br>
              <a:rPr lang="en-U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Wang, </a:t>
            </a:r>
            <a:r>
              <a:rPr lang="en-US" sz="1600" b="1" dirty="0" err="1">
                <a:solidFill>
                  <a:schemeClr val="bg1">
                    <a:lumMod val="95000"/>
                  </a:schemeClr>
                </a:solidFill>
              </a:rPr>
              <a:t>Jieyu</a:t>
            </a:r>
            <a:endParaRPr lang="en-US" sz="1600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Chen, Jim Q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&amp; Its 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89280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406640" y="169164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DBP Project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83080" y="3264408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 &amp;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26440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46557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06640" y="3264408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Schedule &amp; Deliverables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83717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038344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783080" y="483717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Coursework &amp; Impact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83717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5038344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406640" y="483717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Takeaways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THE ORGANIZATION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0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retail bank serving a metropolitan area of the U.S., with a branch network, back-office operations, and a technology division.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13639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99923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include checking and savings accounts, consumer and business loans, credit cards, and digital account access.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21538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4078224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a single community bank into a regional institution through a series of acquisitions and organic growth.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529437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5157216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to be a trusted community bank that pairs strong in-branch service with banking that is both safe and easy to use online.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1691640"/>
            <a:ext cx="4462272" cy="4480560"/>
          </a:xfrm>
          <a:prstGeom prst="roundRect">
            <a:avLst>
              <a:gd name="adj" fmla="val 18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Reliable, safe, and convenient financial services for all customers — regardless of their comfort with technology.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0" y="3886200"/>
            <a:ext cx="35661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0" y="411480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mission drove real requirements: plain-language error messages and accessible design were treated as first-class, not an afterthought.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THE ORGANIZATION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Transformation: The Digital Banking Platform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 — branch, back-office, technology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1828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project: the Digital Banking Platform (DBP)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1828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36676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visits now required for routine servicing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DBP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transfers, and interest postings required a branch visit and manual back-office reconciliation — slow, inconsistent, and hard to scale as the customer base grew.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4114800"/>
            <a:ext cx="0" cy="18288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DBP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480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view balances, transfer funds, and track loans entirely online — matching the self-service experience customers already expect from digital banking.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THE ORGANIZATION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Structure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36092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044225"/>
            <a:ext cx="6675120" cy="37753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691640"/>
            <a:ext cx="3547872" cy="4480560"/>
          </a:xfrm>
          <a:prstGeom prst="roundRect">
            <a:avLst>
              <a:gd name="adj" fmla="val 232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2286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→ IT Director, Digital Banking → Engineering Manager → Backend Team Lead → this internship.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12480" y="3840480"/>
            <a:ext cx="28803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12480" y="4069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code decisions were resolved in minutes with the Backend Team Lead. Anything touching the shared API contract or budget moved through the Engineering Manager.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THE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 Structural Bottleneck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secure, self-service digital channel existed for routine account servicing.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balance inquiry, transfer, or interest posting consumed branch staff time and carried manual-entry risk — a cost that grew with transaction volume.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68112" cy="4572000"/>
          </a:xfrm>
          <a:prstGeom prst="roundRect">
            <a:avLst>
              <a:gd name="adj" fmla="val 18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remember one branch employee describing a personal notebook of interest-calculation shortcuts she’d worked out over years — knowledge nobody else on her team had.”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4434840"/>
            <a:ext cx="18288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4663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story made the cost of the old system concrete: undocumented, single-point-of-failure knowledge that a well-designed digital system is meant to eliminate.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THE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Digital Banking Platform (DBP)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Java / Spring Boot application that lets customers view balances, transfer funds, and review loan information — without visiting a branch.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close, and look up balances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33375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3611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461772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integrity under concurrent load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3375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0" y="3611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21" name="Text 19"/>
          <p:cNvSpPr/>
          <p:nvPr/>
        </p:nvSpPr>
        <p:spPr>
          <a:xfrm>
            <a:off x="841248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&amp; Interest Tracking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interest calculation &amp; audit trail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THE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on the Team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74136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57016" y="1783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— Java Backend Developer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1783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Developer (x2)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25128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08008" y="1783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91672" cy="2331720"/>
          </a:xfrm>
          <a:prstGeom prst="roundRect">
            <a:avLst>
              <a:gd name="adj" fmla="val 3529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16052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39959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Account Management, Fund Transfer, and Interest Calculation modules end to end.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478231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4617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implementation approaches and defended them in code review — not just following instructions.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540410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523951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stable API contracts with the front-end team so both sides could build in parallel.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984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1783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7016" y="1984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7016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framework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1984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82512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25128" y="1783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08008" y="1984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08008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/ AuthZ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19856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74136" y="3419856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57016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&amp; Mockito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57016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integration tests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99632" y="3419856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2512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82512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API verification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25128" y="3419856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08008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08008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Application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085705" cy="4480560"/>
          </a:xfrm>
          <a:prstGeom prst="roundRect">
            <a:avLst>
              <a:gd name="adj" fmla="val 2014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14500"/>
            <a:ext cx="3628505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65865" y="18379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40185" y="17282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640185" y="209397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UI and Postman for manual verification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365865" y="2889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40185" y="2779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640185" y="31455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AccountController, TransactionController, LoanController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365865" y="394106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40185" y="3831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640185" y="419709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including transactional guarantees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365865" y="499262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40185" y="4882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640185" y="524865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over MySQL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49440" cy="3657600"/>
          </a:xfrm>
          <a:prstGeom prst="roundRect">
            <a:avLst>
              <a:gd name="adj" fmla="val 22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730" y="1965960"/>
            <a:ext cx="553726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4406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covering the customer, account, transaction, card, and loan entities.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1691640"/>
            <a:ext cx="3913632" cy="4480560"/>
          </a:xfrm>
          <a:prstGeom prst="roundRect">
            <a:avLst>
              <a:gd name="adj" fmla="val 21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INTERDEPENDENT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touches the same account rows a balance inquiry reads. An interest posting is itself a specialized account update.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3794760"/>
            <a:ext cx="301752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0" y="40233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modules were tracked separately on the backlog but could never be designed in isolation.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Defense in Depth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DMZ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firewalls + network ACLs filter inbound traffic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transit; role-scoped services process requests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Data Tier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for account and PII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layer assumes the layer in front of it might eventually fail — an attacker who breaches the DMZ still has to defeat the application tier before ever reaching customer data.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Role-Based Access Control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govern every endpoint on DBP: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84378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34670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384962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new endpoint: which roles have a legitimate business reason to call it?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376672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0" y="2057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89280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a salted, one-way algorithm — never stored in plain text or reversible encryption.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329184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312724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actions (e.g., reversing a transaction) require an elevated role and are fully audited.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52628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436168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audited action logs the acting user, timestamp, and affected account to reconstruct disputes.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Protection, Logging &amp; Compliance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transit; encryption at rest for account numbers, balances, and PII.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74136" y="17830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02736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0273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57016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7016" y="3017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reconstructable by acting user, timestamp, and account.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17830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28232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82512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3017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 across applications and infrastructure flags anomalies.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25128" y="17830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53728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5372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0800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08008" y="3017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program aligned to PCI DSS and standard retention / incident rules.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89204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lesson: sensitivity often lives in combinations of fields, not any single field — a masked account number plus a timestamp and session ID can still re-identify a customer.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/ SDLC Methodology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48056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411480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3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182880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groom backlog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303520" y="2606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0" y="260604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two-week sprints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3035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03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38328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stakeholders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30352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03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0" y="416052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process, not blame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303520" y="5029200"/>
            <a:ext cx="6336792" cy="1143000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32120" y="5029200"/>
            <a:ext cx="5879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 reframed every issue as a process question — not a person question — which made the team far more willing to surface mistakes early.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80844" y="220370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Sep–Dec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1–7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customer, account, card, and fund-transfer modules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75604" y="220370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2651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Jan–Apr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8–14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reporting, performance &amp; security hardening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70364" y="220370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38160" y="2651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67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15–18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production deployment, hand-off &amp; wrap-up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sprints across 3 phases, from onboarding through production hand-off.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Deliverables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0802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80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7373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&amp; authentication APIs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20802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080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17373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 / update / close / balance look-up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4975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1546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 &amp; withdrawal with transactional integrity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1546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4975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31546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interest calculation for loans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49149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914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45720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MySQL schema across all modules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5720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49149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4914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78040" y="45720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 coverage (JUnit, Mockito)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the Hard Part: Fund Transfers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movement must be correct even when two transactions hit the same account at nearly the same moment.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657600"/>
            <a:ext cx="47548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against near-simultaneous debits to the same account; rollback handling for partially failed transfers; later load-tested against simulated concurrent requests.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76672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CALCULATION TRADE-OFF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option: overwrite each balance in place.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option: generate and store an explicit interest-posting record on every run.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886200"/>
            <a:ext cx="44805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41148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amount of extra processing time bought a complete, reconstructable audit history for every interest calculation the system ever performed.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Deployment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46" y="2194560"/>
            <a:ext cx="9610659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776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4663440"/>
            <a:ext cx="2240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gate must pass to promote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54680" y="4846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429000" y="39776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1188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611880" y="4663440"/>
            <a:ext cx="2240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1188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gate must pass to promote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4846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309360" y="39776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9224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92240" y="4663440"/>
            <a:ext cx="2240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9224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gate must pass to promote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15400" y="4846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189720" y="39776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37260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372600" y="4663440"/>
            <a:ext cx="2240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37260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post-release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554480" y="1947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670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&amp; Mockito — verifying individual service and repository methods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9994392" cy="1188720"/>
          </a:xfrm>
          <a:prstGeom prst="roundRect">
            <a:avLst>
              <a:gd name="adj" fmla="val 692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34015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55448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081528"/>
            <a:ext cx="5605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flows spanning customer, account, transfer, card, and loan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8897112" cy="1188720"/>
          </a:xfrm>
          <a:prstGeom prst="roundRect">
            <a:avLst>
              <a:gd name="adj" fmla="val 692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47000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1554480" y="4544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4379976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checks before handoff — caught contract mismatches early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7424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started treating manual verification as part of the definition of ‘done’ — not an optional nicety — after it repeatedly caught mismatches between code and documented contract.”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Lesson: The API Contract Incident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changed an API field name without telling the front-end team — it broke the transfer confirmation screen for a short period.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76672" cy="4434840"/>
          </a:xfrm>
          <a:prstGeom prst="roundRect">
            <a:avLst>
              <a:gd name="adj" fmla="val 18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API contract is a shared agreement, not something I can modify unilaterally.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3246120"/>
            <a:ext cx="44805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34747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Afterward: version and document endpoint changes before merging, and proactively flag even minor field renames in the team channel before opening a pull request.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Lesson: Reasoning About Concurrency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“looked” correct — with little thought given to what happens when two operations compete for the same data.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Lead asked what would happen to a multi-step update if the database connection dropped halfway through.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concurrency issues became automatic — reviewing a pull request without asking “what if this runs twice at once” felt incomplete.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Coursework That Made a Difference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643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Application Security &amp; Auditing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2900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SQL-injection defense and least-privilege access design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20116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559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in Today’s World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0" y="342900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“does this improve the process” over “can this be built”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66760" y="20116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560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66760" y="342900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6676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goals &amp; Gantt charts — directly useful for sprint planning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to the Organization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2128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safeguards on fund transfers prevented a class of bug (inconsistent balances) that QA specifically tested for.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6941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600200" y="3310128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stable, documented API surface let the front-end team build in parallel instead of waiting on backend progress.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791456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51755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175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600200" y="4791456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Fresh-eyes questions surfaced stale validation assumptions the team had stopped questioning.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to My Growth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code as documentation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commit history often beats an out-of-date wiki page.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future readers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240487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 evolved to explain why, not just what.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5844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API contracts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boundary-crossing change now gets a heads-up to the team.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40156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5844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failure modes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if this runs twice at once” became automatic.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OUTCOMES &amp;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Achieved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96596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40487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database design, secure coding, and OO design to real production constraints, not just coursework rubrics.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73368" y="196596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3368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73368" y="240487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Communicated daily through stand-ups, planning, and retrospectives — surfacing blockers early, not silently.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" y="3584448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584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4023360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transactional safeguards, RBAC, and secure coding as default design requirements.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40156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73368" y="3584448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73368" y="3584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3368" y="4023360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on the API-contract incident and concurrency growth to build durable habits.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OUTCOMES &amp;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2029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83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delivery never outweighs correctness on a system that handles real customer funds.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72" y="3172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926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applies as much to code review habits as to network architecture.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4315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069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contract is a shared agreement — treat every boundary-crossing change as a heads-up, not a surprise.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" y="5458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5212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question from a reviewer, QA engineer, or operations employee as useful information, not criticism.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937760" cy="493776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|   [Your Email]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2208</Words>
  <Application>Microsoft Office PowerPoint</Application>
  <PresentationFormat>Widescreen</PresentationFormat>
  <Paragraphs>373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Banking Platform Internship</dc:title>
  <dc:subject>PptxGenJS Presentation</dc:subject>
  <dc:creator>Intern</dc:creator>
  <cp:lastModifiedBy>sai kumar</cp:lastModifiedBy>
  <cp:revision>1</cp:revision>
  <dcterms:created xsi:type="dcterms:W3CDTF">2026-07-09T05:18:56Z</dcterms:created>
  <dcterms:modified xsi:type="dcterms:W3CDTF">2026-07-09T15:29:29Z</dcterms:modified>
</cp:coreProperties>
</file>